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30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28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Nunito Semi Bold" panose="020B0604020202020204" charset="0"/>
      <p:regular r:id="rId18"/>
      <p:bold r:id="rId19"/>
    </p:embeddedFont>
    <p:embeddedFont>
      <p:font typeface="Open Sans" pitchFamily="2" charset="0"/>
      <p:regular r:id="rId20"/>
      <p:bold r:id="rId21"/>
      <p:italic r:id="rId22"/>
      <p:boldItalic r:id="rId23"/>
    </p:embeddedFont>
    <p:embeddedFont>
      <p:font typeface="PT Sans" panose="020B0503020203020204" pitchFamily="3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52006" cy="5431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6874" y="1920240"/>
            <a:ext cx="6452006" cy="5431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84688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680"/>
            </a:lvl1pPr>
          </a:lstStyle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marL="0" lvl="0" indent="0" algn="ctr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528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11480" lvl="0" indent="-41148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38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91540" lvl="1" indent="-34290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33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71600" lvl="2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288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920240" lvl="3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468880" lvl="4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017520" lvl="5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66160" lvl="6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114800" lvl="7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663440" lvl="8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1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lvl="1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97280" lvl="2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45920" lvl="3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194560" lvl="4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743200" lvl="5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3291840" lvl="6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840480" lvl="7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4389120" lvl="8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image" Target="../media/image4.png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notesSlide" Target="../notesSlides/notesSlide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slideLayout" Target="../slideLayouts/slideLayout1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Relationship Id="rId3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slideLayout" Target="../slideLayouts/slideLayout13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image" Target="../media/image4.png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4630400" cy="82296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C6030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120" dirty="0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5545991" y="345257"/>
            <a:ext cx="14156423" cy="7539088"/>
            <a:chOff x="0" y="0"/>
            <a:chExt cx="812800" cy="4328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E10000">
                    <a:alpha val="100000"/>
                  </a:srgbClr>
                </a:gs>
                <a:gs pos="50000">
                  <a:srgbClr val="FE0100">
                    <a:alpha val="0"/>
                  </a:srgbClr>
                </a:gs>
                <a:gs pos="100000">
                  <a:srgbClr val="FE01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4486" y="7442736"/>
            <a:ext cx="3382213" cy="462991"/>
            <a:chOff x="0" y="0"/>
            <a:chExt cx="5637022" cy="771652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11622" cy="746252"/>
            </a:xfrm>
            <a:custGeom>
              <a:avLst/>
              <a:gdLst/>
              <a:ahLst/>
              <a:cxnLst/>
              <a:rect l="l" t="t" r="r" b="b"/>
              <a:pathLst>
                <a:path w="5611622" h="746252">
                  <a:moveTo>
                    <a:pt x="0" y="373126"/>
                  </a:moveTo>
                  <a:cubicBezTo>
                    <a:pt x="0" y="167005"/>
                    <a:pt x="171958" y="0"/>
                    <a:pt x="384048" y="0"/>
                  </a:cubicBezTo>
                  <a:lnTo>
                    <a:pt x="5227574" y="0"/>
                  </a:lnTo>
                  <a:cubicBezTo>
                    <a:pt x="5439664" y="0"/>
                    <a:pt x="5611622" y="167005"/>
                    <a:pt x="5611622" y="373126"/>
                  </a:cubicBezTo>
                  <a:cubicBezTo>
                    <a:pt x="5611622" y="579247"/>
                    <a:pt x="5439664" y="746252"/>
                    <a:pt x="5227574" y="746252"/>
                  </a:cubicBezTo>
                  <a:lnTo>
                    <a:pt x="384048" y="746252"/>
                  </a:lnTo>
                  <a:cubicBezTo>
                    <a:pt x="171958" y="746252"/>
                    <a:pt x="0" y="579247"/>
                    <a:pt x="0" y="373126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637022" cy="771652"/>
            </a:xfrm>
            <a:custGeom>
              <a:avLst/>
              <a:gdLst/>
              <a:ahLst/>
              <a:cxnLst/>
              <a:rect l="l" t="t" r="r" b="b"/>
              <a:pathLst>
                <a:path w="5637022" h="771652">
                  <a:moveTo>
                    <a:pt x="0" y="385826"/>
                  </a:moveTo>
                  <a:cubicBezTo>
                    <a:pt x="0" y="172339"/>
                    <a:pt x="178054" y="0"/>
                    <a:pt x="396748" y="0"/>
                  </a:cubicBezTo>
                  <a:lnTo>
                    <a:pt x="5240274" y="0"/>
                  </a:lnTo>
                  <a:lnTo>
                    <a:pt x="5240274" y="12700"/>
                  </a:lnTo>
                  <a:lnTo>
                    <a:pt x="5240274" y="0"/>
                  </a:lnTo>
                  <a:cubicBezTo>
                    <a:pt x="5459095" y="0"/>
                    <a:pt x="5637022" y="172339"/>
                    <a:pt x="5637022" y="385826"/>
                  </a:cubicBezTo>
                  <a:lnTo>
                    <a:pt x="5624322" y="385826"/>
                  </a:lnTo>
                  <a:lnTo>
                    <a:pt x="5637022" y="385826"/>
                  </a:lnTo>
                  <a:lnTo>
                    <a:pt x="5624322" y="385826"/>
                  </a:lnTo>
                  <a:lnTo>
                    <a:pt x="5637022" y="385826"/>
                  </a:lnTo>
                  <a:cubicBezTo>
                    <a:pt x="5637022" y="599313"/>
                    <a:pt x="5458968" y="771652"/>
                    <a:pt x="5240274" y="771652"/>
                  </a:cubicBezTo>
                  <a:lnTo>
                    <a:pt x="5240274" y="758952"/>
                  </a:lnTo>
                  <a:lnTo>
                    <a:pt x="5240274" y="771652"/>
                  </a:lnTo>
                  <a:lnTo>
                    <a:pt x="396748" y="771652"/>
                  </a:lnTo>
                  <a:lnTo>
                    <a:pt x="396748" y="758952"/>
                  </a:lnTo>
                  <a:lnTo>
                    <a:pt x="396748" y="771652"/>
                  </a:lnTo>
                  <a:cubicBezTo>
                    <a:pt x="178054" y="771652"/>
                    <a:pt x="0" y="599186"/>
                    <a:pt x="0" y="385826"/>
                  </a:cubicBezTo>
                  <a:lnTo>
                    <a:pt x="12700" y="385826"/>
                  </a:lnTo>
                  <a:lnTo>
                    <a:pt x="0" y="385826"/>
                  </a:lnTo>
                  <a:moveTo>
                    <a:pt x="25400" y="385826"/>
                  </a:moveTo>
                  <a:lnTo>
                    <a:pt x="12700" y="385826"/>
                  </a:lnTo>
                  <a:lnTo>
                    <a:pt x="25400" y="385826"/>
                  </a:lnTo>
                  <a:cubicBezTo>
                    <a:pt x="25400" y="584581"/>
                    <a:pt x="191262" y="746252"/>
                    <a:pt x="396748" y="746252"/>
                  </a:cubicBezTo>
                  <a:lnTo>
                    <a:pt x="5240274" y="746252"/>
                  </a:lnTo>
                  <a:cubicBezTo>
                    <a:pt x="5445760" y="746252"/>
                    <a:pt x="5611622" y="584581"/>
                    <a:pt x="5611622" y="385826"/>
                  </a:cubicBezTo>
                  <a:cubicBezTo>
                    <a:pt x="5611622" y="187071"/>
                    <a:pt x="5445760" y="25400"/>
                    <a:pt x="5240274" y="25400"/>
                  </a:cubicBezTo>
                  <a:lnTo>
                    <a:pt x="396748" y="25400"/>
                  </a:lnTo>
                  <a:lnTo>
                    <a:pt x="396748" y="12700"/>
                  </a:lnTo>
                  <a:lnTo>
                    <a:pt x="396748" y="25400"/>
                  </a:lnTo>
                  <a:cubicBezTo>
                    <a:pt x="191262" y="25400"/>
                    <a:pt x="25400" y="187071"/>
                    <a:pt x="25400" y="385826"/>
                  </a:cubicBezTo>
                  <a:close/>
                </a:path>
              </a:pathLst>
            </a:custGeom>
            <a:solidFill>
              <a:srgbClr val="F7C3C9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5223" y="7525549"/>
            <a:ext cx="3280778" cy="407616"/>
            <a:chOff x="0" y="94417"/>
            <a:chExt cx="5467964" cy="679361"/>
          </a:xfrm>
        </p:grpSpPr>
        <p:sp>
          <p:nvSpPr>
            <p:cNvPr id="19" name="Freeform 19"/>
            <p:cNvSpPr/>
            <p:nvPr/>
          </p:nvSpPr>
          <p:spPr>
            <a:xfrm>
              <a:off x="0" y="127448"/>
              <a:ext cx="5467964" cy="646330"/>
            </a:xfrm>
            <a:custGeom>
              <a:avLst/>
              <a:gdLst/>
              <a:ahLst/>
              <a:cxnLst/>
              <a:rect l="l" t="t" r="r" b="b"/>
              <a:pathLst>
                <a:path w="5467964" h="646330">
                  <a:moveTo>
                    <a:pt x="0" y="0"/>
                  </a:moveTo>
                  <a:lnTo>
                    <a:pt x="5467964" y="0"/>
                  </a:lnTo>
                  <a:lnTo>
                    <a:pt x="5467964" y="646330"/>
                  </a:lnTo>
                  <a:lnTo>
                    <a:pt x="0" y="646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4417"/>
              <a:ext cx="5467964" cy="6463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60"/>
                </a:lnSpc>
              </a:pPr>
              <a:r>
                <a:rPr lang="en-US" spc="246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www.herovired.com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867530" y="736462"/>
            <a:ext cx="3478472" cy="921515"/>
          </a:xfrm>
          <a:custGeom>
            <a:avLst/>
            <a:gdLst/>
            <a:ahLst/>
            <a:cxnLst/>
            <a:rect l="l" t="t" r="r" b="b"/>
            <a:pathLst>
              <a:path w="4348090" h="1151893">
                <a:moveTo>
                  <a:pt x="0" y="0"/>
                </a:moveTo>
                <a:lnTo>
                  <a:pt x="4348090" y="0"/>
                </a:lnTo>
                <a:lnTo>
                  <a:pt x="4348090" y="1151894"/>
                </a:lnTo>
                <a:lnTo>
                  <a:pt x="0" y="1151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69" t="-31372" r="-7269" b="-31372"/>
            </a:stretch>
          </a:blipFill>
        </p:spPr>
        <p:txBody>
          <a:bodyPr/>
          <a:lstStyle/>
          <a:p>
            <a:endParaRPr lang="en-US" sz="1120"/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0883049" y="3392049"/>
            <a:ext cx="2714278" cy="1445504"/>
            <a:chOff x="0" y="0"/>
            <a:chExt cx="812800" cy="43286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12253580" y="5842564"/>
            <a:ext cx="1585748" cy="844500"/>
            <a:chOff x="0" y="0"/>
            <a:chExt cx="812800" cy="4328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8" name="Group 28"/>
          <p:cNvGrpSpPr/>
          <p:nvPr/>
        </p:nvGrpSpPr>
        <p:grpSpPr>
          <a:xfrm rot="5400000">
            <a:off x="12006508" y="1140154"/>
            <a:ext cx="1357139" cy="722752"/>
            <a:chOff x="0" y="0"/>
            <a:chExt cx="812800" cy="43286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2946450" y="2694352"/>
            <a:ext cx="1016041" cy="541098"/>
            <a:chOff x="0" y="0"/>
            <a:chExt cx="812800" cy="4328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4" name="Group 34"/>
          <p:cNvGrpSpPr/>
          <p:nvPr/>
        </p:nvGrpSpPr>
        <p:grpSpPr>
          <a:xfrm rot="5400000">
            <a:off x="9919381" y="2061669"/>
            <a:ext cx="1357139" cy="722752"/>
            <a:chOff x="0" y="0"/>
            <a:chExt cx="812800" cy="43286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7" name="Group 37"/>
          <p:cNvGrpSpPr/>
          <p:nvPr/>
        </p:nvGrpSpPr>
        <p:grpSpPr>
          <a:xfrm rot="5400000">
            <a:off x="10280756" y="5789133"/>
            <a:ext cx="1357139" cy="722752"/>
            <a:chOff x="0" y="0"/>
            <a:chExt cx="812800" cy="43286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0" name="Group 40"/>
          <p:cNvGrpSpPr/>
          <p:nvPr/>
        </p:nvGrpSpPr>
        <p:grpSpPr>
          <a:xfrm rot="5400000">
            <a:off x="11043640" y="967473"/>
            <a:ext cx="618308" cy="329284"/>
            <a:chOff x="0" y="0"/>
            <a:chExt cx="812800" cy="43286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3" name="Group 43"/>
          <p:cNvGrpSpPr/>
          <p:nvPr/>
        </p:nvGrpSpPr>
        <p:grpSpPr>
          <a:xfrm rot="5400000">
            <a:off x="13149376" y="4684342"/>
            <a:ext cx="474799" cy="252857"/>
            <a:chOff x="0" y="0"/>
            <a:chExt cx="812800" cy="43286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3825144" y="3988372"/>
            <a:ext cx="474799" cy="252857"/>
            <a:chOff x="0" y="0"/>
            <a:chExt cx="812800" cy="43286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0869429" y="7330078"/>
            <a:ext cx="281815" cy="150083"/>
            <a:chOff x="0" y="0"/>
            <a:chExt cx="812800" cy="43286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1563668" y="6790415"/>
            <a:ext cx="618308" cy="329284"/>
            <a:chOff x="0" y="0"/>
            <a:chExt cx="812800" cy="43286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5676C2E-FDD8-196E-CE18-EB7E3C6A07F0}"/>
              </a:ext>
            </a:extLst>
          </p:cNvPr>
          <p:cNvSpPr txBox="1"/>
          <p:nvPr/>
        </p:nvSpPr>
        <p:spPr>
          <a:xfrm>
            <a:off x="905380" y="4035481"/>
            <a:ext cx="7443514" cy="398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dk1"/>
              </a:buClr>
              <a:buSzPts val="2800"/>
            </a:pPr>
            <a:r>
              <a:rPr lang="en-US" sz="1680" i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Basics of the Open-Source Operating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BE6B4-9479-DBA7-DDE0-AEDECCCFA4BC}"/>
              </a:ext>
            </a:extLst>
          </p:cNvPr>
          <p:cNvSpPr txBox="1"/>
          <p:nvPr/>
        </p:nvSpPr>
        <p:spPr>
          <a:xfrm>
            <a:off x="905380" y="3129291"/>
            <a:ext cx="7949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to Linux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979AA80B-B4E0-9A27-0F30-5894A3D43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594" y="4720410"/>
            <a:ext cx="1683782" cy="19784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6541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Understanding Linux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98846"/>
            <a:ext cx="3480792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Linux exactly?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2860477"/>
            <a:ext cx="7539395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Linux is an open-source operating system kernel originally developed by </a:t>
            </a:r>
            <a:r>
              <a:rPr lang="en-US" sz="1850" b="1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Linus Torvalds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in 1991. Unlike proprietary systems, Linux gives users complete freedom to modify and distribute the code.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224933"/>
            <a:ext cx="7539395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Today, Linux powers an incredible range of devices - from massive data centre servers to your Android smartphone, embedded systems in cars, and even space stations.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740" y="1833880"/>
            <a:ext cx="4602480" cy="5229860"/>
          </a:xfrm>
          <a:prstGeom prst="rect">
            <a:avLst/>
          </a:prstGeom>
        </p:spPr>
      </p:pic>
      <p:sp>
        <p:nvSpPr>
          <p:cNvPr id="7" name="Google Shape;688;g36a7fda6971_1_538">
            <a:extLst>
              <a:ext uri="{FF2B5EF4-FFF2-40B4-BE49-F238E27FC236}">
                <a16:creationId xmlns:a16="http://schemas.microsoft.com/office/drawing/2014/main" id="{7B57ED4E-8B9F-56D7-4513-841DD4E9F08A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60440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Advantages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1843207"/>
            <a:ext cx="6357818" cy="2743319"/>
          </a:xfrm>
          <a:prstGeom prst="roundRect">
            <a:avLst>
              <a:gd name="adj" fmla="val 1308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899" y="210538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2D4DF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305" y="2262426"/>
            <a:ext cx="323136" cy="403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9899" y="3062764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Free &amp; Open-Source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9899" y="3558302"/>
            <a:ext cx="583346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No licensing costs, complete source code access, and freedom to modify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434858" y="1843207"/>
            <a:ext cx="6357818" cy="2743319"/>
          </a:xfrm>
          <a:prstGeom prst="roundRect">
            <a:avLst>
              <a:gd name="adj" fmla="val 13089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97033" y="210538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018CE1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439" y="2262426"/>
            <a:ext cx="323136" cy="4038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97033" y="3062764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Secure &amp; Stable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97033" y="3558302"/>
            <a:ext cx="583346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Robust security model with regular updates and minimal downtime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837724" y="4825841"/>
            <a:ext cx="6357818" cy="2743319"/>
          </a:xfrm>
          <a:prstGeom prst="roundRect">
            <a:avLst>
              <a:gd name="adj" fmla="val 13089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99899" y="5088017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DA33BF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305" y="5245060"/>
            <a:ext cx="323136" cy="4038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9899" y="6045398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Lightweight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99899" y="6540937"/>
            <a:ext cx="583346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Runs efficiently on older hardware whilst remaining highly customisable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7434858" y="4825841"/>
            <a:ext cx="6357818" cy="2743319"/>
          </a:xfrm>
          <a:prstGeom prst="roundRect">
            <a:avLst>
              <a:gd name="adj" fmla="val 1308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97033" y="5088017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2D4DF2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4439" y="5245060"/>
            <a:ext cx="323136" cy="4038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97033" y="6045398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Industry Standard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97033" y="6540937"/>
            <a:ext cx="583346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Dominant in servers, DevOps, cloud computing, and cybersecurity fields</a:t>
            </a:r>
            <a:endParaRPr lang="en-US" sz="1850" dirty="0"/>
          </a:p>
        </p:txBody>
      </p:sp>
      <p:sp>
        <p:nvSpPr>
          <p:cNvPr id="23" name="Google Shape;688;g36a7fda6971_1_538">
            <a:extLst>
              <a:ext uri="{FF2B5EF4-FFF2-40B4-BE49-F238E27FC236}">
                <a16:creationId xmlns:a16="http://schemas.microsoft.com/office/drawing/2014/main" id="{9CB01A51-6E4C-5721-03D0-986038479579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923" y="693777"/>
            <a:ext cx="6787634" cy="68453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8426" y="580192"/>
            <a:ext cx="4964668" cy="6205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Core Components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26" y="1517213"/>
            <a:ext cx="1054894" cy="15338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04298" y="1728192"/>
            <a:ext cx="2482334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Kernel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2004298" y="2165033"/>
            <a:ext cx="4572476" cy="675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The core that manages hardware resources, memory, and system processes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26" y="3051096"/>
            <a:ext cx="1054894" cy="15338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04298" y="3262074"/>
            <a:ext cx="2482334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Shell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2004298" y="3698915"/>
            <a:ext cx="4572476" cy="675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Command-line interface that interprets user commands and executes programs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26" y="4584978"/>
            <a:ext cx="1054894" cy="15338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04298" y="4795957"/>
            <a:ext cx="2482334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File System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2004298" y="5232797"/>
            <a:ext cx="4572476" cy="675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Hierarchical structure organising files and directories across the system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426" y="6118860"/>
            <a:ext cx="1054894" cy="153388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04298" y="6329839"/>
            <a:ext cx="2482334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Applications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2004298" y="6766679"/>
            <a:ext cx="4572476" cy="675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User-level programs and utilities that provide functionality and services</a:t>
            </a:r>
            <a:endParaRPr lang="en-US" sz="1650" dirty="0"/>
          </a:p>
        </p:txBody>
      </p:sp>
      <p:sp>
        <p:nvSpPr>
          <p:cNvPr id="16" name="Google Shape;688;g36a7fda6971_1_538">
            <a:extLst>
              <a:ext uri="{FF2B5EF4-FFF2-40B4-BE49-F238E27FC236}">
                <a16:creationId xmlns:a16="http://schemas.microsoft.com/office/drawing/2014/main" id="{72ACD0FB-7EDB-A495-D15F-48367A2FDDAA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483" y="490657"/>
            <a:ext cx="5211366" cy="524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Popular Linux Distributions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83" y="1372195"/>
            <a:ext cx="1843207" cy="18432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83" y="3438406"/>
            <a:ext cx="2099191" cy="262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Ubuntu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4483" y="3807738"/>
            <a:ext cx="3178016" cy="856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Perfect for beginners with user-friendly interface and extensive community support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503" y="1372195"/>
            <a:ext cx="1843207" cy="18432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5503" y="3438406"/>
            <a:ext cx="2099191" cy="262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Fedora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025503" y="3807738"/>
            <a:ext cx="3178135" cy="571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Features cutting-edge software and latest technologies for developers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642" y="1372195"/>
            <a:ext cx="1843207" cy="18432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6642" y="3438406"/>
            <a:ext cx="2099191" cy="262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RHEL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7426642" y="3807738"/>
            <a:ext cx="3178135" cy="571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Enterprise-grade stability and support for mission-critical servers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7782" y="1372195"/>
            <a:ext cx="1843207" cy="18432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27782" y="3438406"/>
            <a:ext cx="2099191" cy="262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Kali Linux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0827782" y="3807738"/>
            <a:ext cx="3178135" cy="571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Specialised distribution for security testing and penetration testing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83" y="5021104"/>
            <a:ext cx="1843207" cy="184320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4483" y="7087314"/>
            <a:ext cx="2099191" cy="262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Debian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24483" y="7456646"/>
            <a:ext cx="3178016" cy="571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Rock-solid stability with strong community governance and support</a:t>
            </a:r>
            <a:endParaRPr lang="en-US" sz="1400" dirty="0"/>
          </a:p>
        </p:txBody>
      </p:sp>
      <p:sp>
        <p:nvSpPr>
          <p:cNvPr id="18" name="Google Shape;688;g36a7fda6971_1_538">
            <a:extLst>
              <a:ext uri="{FF2B5EF4-FFF2-40B4-BE49-F238E27FC236}">
                <a16:creationId xmlns:a16="http://schemas.microsoft.com/office/drawing/2014/main" id="{D2A260C7-D597-E6F4-E570-18543B82067E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66468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Directory Structure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329458"/>
            <a:ext cx="3379470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Essential Directories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837724" y="3487103"/>
            <a:ext cx="4158734" cy="30480"/>
          </a:xfrm>
          <a:prstGeom prst="rect">
            <a:avLst/>
          </a:prstGeom>
          <a:solidFill>
            <a:srgbClr val="2D4DF2"/>
          </a:solidFill>
        </p:spPr>
      </p:sp>
      <p:sp>
        <p:nvSpPr>
          <p:cNvPr id="5" name="Text 3"/>
          <p:cNvSpPr/>
          <p:nvPr/>
        </p:nvSpPr>
        <p:spPr>
          <a:xfrm>
            <a:off x="837724" y="366772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/ (Root)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4163258"/>
            <a:ext cx="4158734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The base of the entire filesystem hierarchy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3487103"/>
            <a:ext cx="4158734" cy="30480"/>
          </a:xfrm>
          <a:prstGeom prst="rect">
            <a:avLst/>
          </a:prstGeom>
          <a:solidFill>
            <a:srgbClr val="018CE1"/>
          </a:solidFill>
        </p:spPr>
      </p:sp>
      <p:sp>
        <p:nvSpPr>
          <p:cNvPr id="8" name="Text 6"/>
          <p:cNvSpPr/>
          <p:nvPr/>
        </p:nvSpPr>
        <p:spPr>
          <a:xfrm>
            <a:off x="5235773" y="366772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/home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773" y="4163258"/>
            <a:ext cx="4158734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Contains user personal files and directories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33823" y="3487103"/>
            <a:ext cx="4158853" cy="30480"/>
          </a:xfrm>
          <a:prstGeom prst="rect">
            <a:avLst/>
          </a:prstGeom>
          <a:solidFill>
            <a:srgbClr val="DA33BF"/>
          </a:solidFill>
        </p:spPr>
      </p:sp>
      <p:sp>
        <p:nvSpPr>
          <p:cNvPr id="11" name="Text 9"/>
          <p:cNvSpPr/>
          <p:nvPr/>
        </p:nvSpPr>
        <p:spPr>
          <a:xfrm>
            <a:off x="9633823" y="366772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/etc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33823" y="4163258"/>
            <a:ext cx="4158853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System-wide configuration files and settings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37724" y="5724406"/>
            <a:ext cx="6357818" cy="30480"/>
          </a:xfrm>
          <a:prstGeom prst="rect">
            <a:avLst/>
          </a:prstGeom>
          <a:solidFill>
            <a:srgbClr val="2D4DF2"/>
          </a:solidFill>
        </p:spPr>
      </p:sp>
      <p:sp>
        <p:nvSpPr>
          <p:cNvPr id="14" name="Text 12"/>
          <p:cNvSpPr/>
          <p:nvPr/>
        </p:nvSpPr>
        <p:spPr>
          <a:xfrm>
            <a:off x="837724" y="5905024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/var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724" y="6400562"/>
            <a:ext cx="6357818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Variable files including logs and temporary data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5724406"/>
            <a:ext cx="6357818" cy="30480"/>
          </a:xfrm>
          <a:prstGeom prst="rect">
            <a:avLst/>
          </a:prstGeom>
          <a:solidFill>
            <a:srgbClr val="018CE1"/>
          </a:solidFill>
        </p:spPr>
      </p:sp>
      <p:sp>
        <p:nvSpPr>
          <p:cNvPr id="17" name="Text 15"/>
          <p:cNvSpPr/>
          <p:nvPr/>
        </p:nvSpPr>
        <p:spPr>
          <a:xfrm>
            <a:off x="7434858" y="5905024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/bin &amp; /sbin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34858" y="6400562"/>
            <a:ext cx="6357818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Essential system binaries and executables</a:t>
            </a:r>
            <a:endParaRPr lang="en-US" sz="1850" dirty="0"/>
          </a:p>
        </p:txBody>
      </p:sp>
      <p:sp>
        <p:nvSpPr>
          <p:cNvPr id="19" name="Google Shape;688;g36a7fda6971_1_538">
            <a:extLst>
              <a:ext uri="{FF2B5EF4-FFF2-40B4-BE49-F238E27FC236}">
                <a16:creationId xmlns:a16="http://schemas.microsoft.com/office/drawing/2014/main" id="{F7610EC4-8AB7-72CA-87FD-B9F3A4D61B83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086" y="542211"/>
            <a:ext cx="4639628" cy="5799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Working with CLI</a:t>
            </a:r>
            <a:endParaRPr lang="en-US" sz="36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690086" y="1713667"/>
            <a:ext cx="6526530" cy="2900243"/>
          </a:xfrm>
          <a:prstGeom prst="roundRect">
            <a:avLst>
              <a:gd name="adj" fmla="val 3783"/>
            </a:avLst>
          </a:prstGeom>
          <a:solidFill>
            <a:srgbClr val="F3F3FF">
              <a:alpha val="75000"/>
            </a:srgbClr>
          </a:solidFill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690086" y="1690807"/>
            <a:ext cx="6526530" cy="91440"/>
          </a:xfrm>
          <a:prstGeom prst="roundRect">
            <a:avLst>
              <a:gd name="adj" fmla="val 323467"/>
            </a:avLst>
          </a:prstGeom>
          <a:solidFill>
            <a:srgbClr val="2D4DF2"/>
          </a:solidFill>
        </p:spPr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3657600" y="1417915"/>
            <a:ext cx="591503" cy="591503"/>
          </a:xfrm>
          <a:prstGeom prst="roundRect">
            <a:avLst>
              <a:gd name="adj" fmla="val 154589"/>
            </a:avLst>
          </a:prstGeom>
          <a:solidFill>
            <a:srgbClr val="2D4DF2"/>
          </a:solidFill>
        </p:spPr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3835003" y="1565791"/>
            <a:ext cx="236577" cy="2957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910114" y="2206585"/>
            <a:ext cx="2319814" cy="2899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pwd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910114" y="2614732"/>
            <a:ext cx="6086475" cy="3153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Print working directory - shows your current location</a:t>
            </a:r>
            <a:endParaRPr lang="en-US" sz="155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910114" y="3151942"/>
            <a:ext cx="6086475" cy="926544"/>
          </a:xfrm>
          <a:prstGeom prst="roundRect">
            <a:avLst>
              <a:gd name="adj" fmla="val 31923"/>
            </a:avLst>
          </a:prstGeom>
          <a:solidFill>
            <a:srgbClr val="E6E6F2"/>
          </a:solidFill>
        </p:spPr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900351" y="3151942"/>
            <a:ext cx="6106001" cy="926544"/>
          </a:xfrm>
          <a:prstGeom prst="roundRect">
            <a:avLst>
              <a:gd name="adj" fmla="val 3192"/>
            </a:avLst>
          </a:prstGeom>
          <a:solidFill>
            <a:srgbClr val="E6E6F2"/>
          </a:solidFill>
        </p:spPr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1097518" y="3299817"/>
            <a:ext cx="5711666" cy="6307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pwd/home/username</a:t>
            </a:r>
            <a:endParaRPr lang="en-US" sz="1550" dirty="0"/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7413784" y="1713667"/>
            <a:ext cx="6526530" cy="2900243"/>
          </a:xfrm>
          <a:prstGeom prst="roundRect">
            <a:avLst>
              <a:gd name="adj" fmla="val 3783"/>
            </a:avLst>
          </a:prstGeom>
          <a:solidFill>
            <a:srgbClr val="F3F3FF">
              <a:alpha val="75000"/>
            </a:srgbClr>
          </a:solidFill>
        </p:spPr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7413784" y="1690807"/>
            <a:ext cx="6526530" cy="91440"/>
          </a:xfrm>
          <a:prstGeom prst="roundRect">
            <a:avLst>
              <a:gd name="adj" fmla="val 323467"/>
            </a:avLst>
          </a:prstGeom>
          <a:solidFill>
            <a:srgbClr val="018CE1"/>
          </a:solidFill>
        </p:spPr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10381298" y="1417915"/>
            <a:ext cx="591503" cy="591503"/>
          </a:xfrm>
          <a:prstGeom prst="roundRect">
            <a:avLst>
              <a:gd name="adj" fmla="val 154589"/>
            </a:avLst>
          </a:prstGeom>
          <a:solidFill>
            <a:srgbClr val="2D4DF2"/>
          </a:solidFill>
        </p:spPr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10558701" y="1565791"/>
            <a:ext cx="236577" cy="2957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7633811" y="2206585"/>
            <a:ext cx="2319814" cy="2899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ls</a:t>
            </a:r>
            <a:endParaRPr lang="en-US" sz="1800" dirty="0"/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7633811" y="2614732"/>
            <a:ext cx="6086475" cy="3153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List files and directories in current location</a:t>
            </a:r>
            <a:endParaRPr lang="en-US" sz="1550" dirty="0"/>
          </a:p>
        </p:txBody>
      </p:sp>
      <p:sp>
        <p:nvSpPr>
          <p:cNvPr id="18" name="Shape 16"/>
          <p:cNvSpPr/>
          <p:nvPr>
            <p:custDataLst>
              <p:tags r:id="rId16"/>
            </p:custDataLst>
          </p:nvPr>
        </p:nvSpPr>
        <p:spPr>
          <a:xfrm>
            <a:off x="7633811" y="3151942"/>
            <a:ext cx="6086475" cy="1241941"/>
          </a:xfrm>
          <a:prstGeom prst="roundRect">
            <a:avLst>
              <a:gd name="adj" fmla="val 23816"/>
            </a:avLst>
          </a:prstGeom>
          <a:solidFill>
            <a:srgbClr val="E6E6F2"/>
          </a:solidFill>
        </p:spPr>
      </p:sp>
      <p:sp>
        <p:nvSpPr>
          <p:cNvPr id="19" name="Shape 17"/>
          <p:cNvSpPr/>
          <p:nvPr>
            <p:custDataLst>
              <p:tags r:id="rId17"/>
            </p:custDataLst>
          </p:nvPr>
        </p:nvSpPr>
        <p:spPr>
          <a:xfrm>
            <a:off x="7624048" y="3151942"/>
            <a:ext cx="6106001" cy="1241941"/>
          </a:xfrm>
          <a:prstGeom prst="roundRect">
            <a:avLst>
              <a:gd name="adj" fmla="val 2382"/>
            </a:avLst>
          </a:prstGeom>
          <a:solidFill>
            <a:srgbClr val="E6E6F2"/>
          </a:solidFill>
        </p:spPr>
      </p:sp>
      <p:sp>
        <p:nvSpPr>
          <p:cNvPr id="20" name="Text 18"/>
          <p:cNvSpPr/>
          <p:nvPr>
            <p:custDataLst>
              <p:tags r:id="rId18"/>
            </p:custDataLst>
          </p:nvPr>
        </p:nvSpPr>
        <p:spPr>
          <a:xfrm>
            <a:off x="7821216" y="3299817"/>
            <a:ext cx="5711666" cy="9461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ls -la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 24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drwxr-xr-x 3 user</a:t>
            </a:r>
            <a:endParaRPr lang="en-US" sz="1550" dirty="0"/>
          </a:p>
        </p:txBody>
      </p:sp>
      <p:sp>
        <p:nvSpPr>
          <p:cNvPr id="21" name="Shape 19"/>
          <p:cNvSpPr/>
          <p:nvPr>
            <p:custDataLst>
              <p:tags r:id="rId19"/>
            </p:custDataLst>
          </p:nvPr>
        </p:nvSpPr>
        <p:spPr>
          <a:xfrm>
            <a:off x="690086" y="5106829"/>
            <a:ext cx="6526530" cy="2584847"/>
          </a:xfrm>
          <a:prstGeom prst="roundRect">
            <a:avLst>
              <a:gd name="adj" fmla="val 4245"/>
            </a:avLst>
          </a:prstGeom>
          <a:solidFill>
            <a:srgbClr val="F3F3FF">
              <a:alpha val="75000"/>
            </a:srgbClr>
          </a:solidFill>
        </p:spPr>
      </p:sp>
      <p:sp>
        <p:nvSpPr>
          <p:cNvPr id="22" name="Shape 20"/>
          <p:cNvSpPr/>
          <p:nvPr>
            <p:custDataLst>
              <p:tags r:id="rId20"/>
            </p:custDataLst>
          </p:nvPr>
        </p:nvSpPr>
        <p:spPr>
          <a:xfrm>
            <a:off x="690086" y="5083969"/>
            <a:ext cx="6526530" cy="91440"/>
          </a:xfrm>
          <a:prstGeom prst="roundRect">
            <a:avLst>
              <a:gd name="adj" fmla="val 323467"/>
            </a:avLst>
          </a:prstGeom>
          <a:solidFill>
            <a:srgbClr val="DA33BF"/>
          </a:solidFill>
        </p:spPr>
      </p:sp>
      <p:sp>
        <p:nvSpPr>
          <p:cNvPr id="23" name="Shape 21"/>
          <p:cNvSpPr/>
          <p:nvPr>
            <p:custDataLst>
              <p:tags r:id="rId21"/>
            </p:custDataLst>
          </p:nvPr>
        </p:nvSpPr>
        <p:spPr>
          <a:xfrm>
            <a:off x="3657600" y="4811077"/>
            <a:ext cx="591503" cy="591503"/>
          </a:xfrm>
          <a:prstGeom prst="roundRect">
            <a:avLst>
              <a:gd name="adj" fmla="val 154589"/>
            </a:avLst>
          </a:prstGeom>
          <a:solidFill>
            <a:srgbClr val="2D4DF2"/>
          </a:solidFill>
        </p:spPr>
      </p:sp>
      <p:sp>
        <p:nvSpPr>
          <p:cNvPr id="24" name="Text 22"/>
          <p:cNvSpPr/>
          <p:nvPr>
            <p:custDataLst>
              <p:tags r:id="rId22"/>
            </p:custDataLst>
          </p:nvPr>
        </p:nvSpPr>
        <p:spPr>
          <a:xfrm>
            <a:off x="3835003" y="4958953"/>
            <a:ext cx="236577" cy="2957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25" name="Text 23"/>
          <p:cNvSpPr/>
          <p:nvPr>
            <p:custDataLst>
              <p:tags r:id="rId23"/>
            </p:custDataLst>
          </p:nvPr>
        </p:nvSpPr>
        <p:spPr>
          <a:xfrm>
            <a:off x="910114" y="5599748"/>
            <a:ext cx="2319814" cy="2899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cd</a:t>
            </a:r>
            <a:endParaRPr lang="en-US" sz="1800" dirty="0"/>
          </a:p>
        </p:txBody>
      </p:sp>
      <p:sp>
        <p:nvSpPr>
          <p:cNvPr id="26" name="Text 24"/>
          <p:cNvSpPr/>
          <p:nvPr>
            <p:custDataLst>
              <p:tags r:id="rId24"/>
            </p:custDataLst>
          </p:nvPr>
        </p:nvSpPr>
        <p:spPr>
          <a:xfrm>
            <a:off x="910114" y="6007894"/>
            <a:ext cx="6086475" cy="3153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Change directory to navigate filesystem</a:t>
            </a:r>
            <a:endParaRPr lang="en-US" sz="1550" dirty="0"/>
          </a:p>
        </p:txBody>
      </p:sp>
      <p:sp>
        <p:nvSpPr>
          <p:cNvPr id="27" name="Shape 25"/>
          <p:cNvSpPr/>
          <p:nvPr>
            <p:custDataLst>
              <p:tags r:id="rId25"/>
            </p:custDataLst>
          </p:nvPr>
        </p:nvSpPr>
        <p:spPr>
          <a:xfrm>
            <a:off x="910114" y="6545104"/>
            <a:ext cx="6086475" cy="611148"/>
          </a:xfrm>
          <a:prstGeom prst="roundRect">
            <a:avLst>
              <a:gd name="adj" fmla="val 48397"/>
            </a:avLst>
          </a:prstGeom>
          <a:solidFill>
            <a:srgbClr val="E6E6F2"/>
          </a:solidFill>
        </p:spPr>
      </p:sp>
      <p:sp>
        <p:nvSpPr>
          <p:cNvPr id="28" name="Shape 26"/>
          <p:cNvSpPr/>
          <p:nvPr>
            <p:custDataLst>
              <p:tags r:id="rId26"/>
            </p:custDataLst>
          </p:nvPr>
        </p:nvSpPr>
        <p:spPr>
          <a:xfrm>
            <a:off x="900351" y="6545104"/>
            <a:ext cx="6106001" cy="611148"/>
          </a:xfrm>
          <a:prstGeom prst="roundRect">
            <a:avLst>
              <a:gd name="adj" fmla="val 4840"/>
            </a:avLst>
          </a:prstGeom>
          <a:solidFill>
            <a:srgbClr val="E6E6F2"/>
          </a:solidFill>
        </p:spPr>
      </p:sp>
      <p:sp>
        <p:nvSpPr>
          <p:cNvPr id="29" name="Text 27"/>
          <p:cNvSpPr/>
          <p:nvPr>
            <p:custDataLst>
              <p:tags r:id="rId27"/>
            </p:custDataLst>
          </p:nvPr>
        </p:nvSpPr>
        <p:spPr>
          <a:xfrm>
            <a:off x="1097518" y="6692979"/>
            <a:ext cx="5711666" cy="3153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cd /home/documents</a:t>
            </a:r>
            <a:endParaRPr lang="en-US" sz="1550" dirty="0"/>
          </a:p>
        </p:txBody>
      </p:sp>
      <p:sp>
        <p:nvSpPr>
          <p:cNvPr id="30" name="Shape 28"/>
          <p:cNvSpPr/>
          <p:nvPr>
            <p:custDataLst>
              <p:tags r:id="rId28"/>
            </p:custDataLst>
          </p:nvPr>
        </p:nvSpPr>
        <p:spPr>
          <a:xfrm>
            <a:off x="7413784" y="5106829"/>
            <a:ext cx="6526530" cy="2584847"/>
          </a:xfrm>
          <a:prstGeom prst="roundRect">
            <a:avLst>
              <a:gd name="adj" fmla="val 4245"/>
            </a:avLst>
          </a:prstGeom>
          <a:solidFill>
            <a:srgbClr val="F3F3FF">
              <a:alpha val="75000"/>
            </a:srgbClr>
          </a:solidFill>
        </p:spPr>
      </p:sp>
      <p:sp>
        <p:nvSpPr>
          <p:cNvPr id="31" name="Shape 29"/>
          <p:cNvSpPr/>
          <p:nvPr>
            <p:custDataLst>
              <p:tags r:id="rId29"/>
            </p:custDataLst>
          </p:nvPr>
        </p:nvSpPr>
        <p:spPr>
          <a:xfrm>
            <a:off x="7413784" y="5083969"/>
            <a:ext cx="6526530" cy="91440"/>
          </a:xfrm>
          <a:prstGeom prst="roundRect">
            <a:avLst>
              <a:gd name="adj" fmla="val 323467"/>
            </a:avLst>
          </a:prstGeom>
          <a:solidFill>
            <a:srgbClr val="2D4DF2"/>
          </a:solidFill>
        </p:spPr>
      </p:sp>
      <p:sp>
        <p:nvSpPr>
          <p:cNvPr id="32" name="Shape 30"/>
          <p:cNvSpPr/>
          <p:nvPr>
            <p:custDataLst>
              <p:tags r:id="rId30"/>
            </p:custDataLst>
          </p:nvPr>
        </p:nvSpPr>
        <p:spPr>
          <a:xfrm>
            <a:off x="10381298" y="4811077"/>
            <a:ext cx="591503" cy="591503"/>
          </a:xfrm>
          <a:prstGeom prst="roundRect">
            <a:avLst>
              <a:gd name="adj" fmla="val 154589"/>
            </a:avLst>
          </a:prstGeom>
          <a:solidFill>
            <a:srgbClr val="2D4DF2"/>
          </a:solidFill>
        </p:spPr>
      </p:sp>
      <p:sp>
        <p:nvSpPr>
          <p:cNvPr id="33" name="Text 31"/>
          <p:cNvSpPr/>
          <p:nvPr>
            <p:custDataLst>
              <p:tags r:id="rId31"/>
            </p:custDataLst>
          </p:nvPr>
        </p:nvSpPr>
        <p:spPr>
          <a:xfrm>
            <a:off x="10558701" y="4958953"/>
            <a:ext cx="236577" cy="2957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1850" dirty="0"/>
          </a:p>
        </p:txBody>
      </p:sp>
      <p:sp>
        <p:nvSpPr>
          <p:cNvPr id="34" name="Text 32"/>
          <p:cNvSpPr/>
          <p:nvPr>
            <p:custDataLst>
              <p:tags r:id="rId32"/>
            </p:custDataLst>
          </p:nvPr>
        </p:nvSpPr>
        <p:spPr>
          <a:xfrm>
            <a:off x="7633811" y="5599748"/>
            <a:ext cx="2319814" cy="2899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cat / nano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3"/>
            </p:custDataLst>
          </p:nvPr>
        </p:nvSpPr>
        <p:spPr>
          <a:xfrm>
            <a:off x="7633811" y="6007894"/>
            <a:ext cx="6086475" cy="3153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View or edit file contents quickly</a:t>
            </a:r>
            <a:endParaRPr lang="en-US" sz="1550" dirty="0"/>
          </a:p>
        </p:txBody>
      </p:sp>
      <p:sp>
        <p:nvSpPr>
          <p:cNvPr id="36" name="Shape 34"/>
          <p:cNvSpPr/>
          <p:nvPr>
            <p:custDataLst>
              <p:tags r:id="rId34"/>
            </p:custDataLst>
          </p:nvPr>
        </p:nvSpPr>
        <p:spPr>
          <a:xfrm>
            <a:off x="7633811" y="6545104"/>
            <a:ext cx="6086475" cy="926544"/>
          </a:xfrm>
          <a:prstGeom prst="roundRect">
            <a:avLst>
              <a:gd name="adj" fmla="val 31923"/>
            </a:avLst>
          </a:prstGeom>
          <a:solidFill>
            <a:srgbClr val="E6E6F2"/>
          </a:solidFill>
        </p:spPr>
      </p:sp>
      <p:sp>
        <p:nvSpPr>
          <p:cNvPr id="37" name="Shape 35"/>
          <p:cNvSpPr/>
          <p:nvPr>
            <p:custDataLst>
              <p:tags r:id="rId35"/>
            </p:custDataLst>
          </p:nvPr>
        </p:nvSpPr>
        <p:spPr>
          <a:xfrm>
            <a:off x="7624048" y="6545104"/>
            <a:ext cx="6106001" cy="926544"/>
          </a:xfrm>
          <a:prstGeom prst="roundRect">
            <a:avLst>
              <a:gd name="adj" fmla="val 3192"/>
            </a:avLst>
          </a:prstGeom>
          <a:solidFill>
            <a:srgbClr val="E6E6F2"/>
          </a:solidFill>
        </p:spPr>
      </p:sp>
      <p:sp>
        <p:nvSpPr>
          <p:cNvPr id="38" name="Text 36"/>
          <p:cNvSpPr/>
          <p:nvPr>
            <p:custDataLst>
              <p:tags r:id="rId36"/>
            </p:custDataLst>
          </p:nvPr>
        </p:nvSpPr>
        <p:spPr>
          <a:xfrm>
            <a:off x="7821216" y="6692979"/>
            <a:ext cx="5711666" cy="6307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cat filename.txt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nano filename.txt</a:t>
            </a:r>
            <a:endParaRPr lang="en-US" sz="1550" dirty="0"/>
          </a:p>
        </p:txBody>
      </p:sp>
      <p:sp>
        <p:nvSpPr>
          <p:cNvPr id="39" name="Google Shape;688;g36a7fda6971_1_538">
            <a:extLst>
              <a:ext uri="{FF2B5EF4-FFF2-40B4-BE49-F238E27FC236}">
                <a16:creationId xmlns:a16="http://schemas.microsoft.com/office/drawing/2014/main" id="{C975FE7C-6846-8ED9-26C1-048FFFD6D427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9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32503"/>
            <a:ext cx="663071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Managing Users &amp; Access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115270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15559" y="319754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User Identity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15559" y="3693081"/>
            <a:ext cx="5549979" cy="7736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Use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whoami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and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to check current user information and permissions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64743" y="3115270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42578" y="319754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File Permissions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42578" y="3693081"/>
            <a:ext cx="5550098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D4DF2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(read), </a:t>
            </a:r>
            <a:r>
              <a:rPr lang="en-US" sz="1850" b="1" dirty="0">
                <a:solidFill>
                  <a:srgbClr val="018CE1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w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(write), </a:t>
            </a:r>
            <a:r>
              <a:rPr lang="en-US" sz="1850" b="1" dirty="0">
                <a:solidFill>
                  <a:srgbClr val="DA33B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x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(execute) control access to files and directories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945499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5559" y="5027771"/>
            <a:ext cx="3163372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Permission Management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15559" y="5523309"/>
            <a:ext cx="5549979" cy="7736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chmod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changes permissions whilst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chown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changes ownership of files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64743" y="4945499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2578" y="5027771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Superuser Access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42578" y="5523309"/>
            <a:ext cx="5550098" cy="7736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Root user has complete system control - use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sudo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for administrative tasks</a:t>
            </a:r>
            <a:endParaRPr lang="en-US" sz="1850" dirty="0"/>
          </a:p>
        </p:txBody>
      </p:sp>
      <p:sp>
        <p:nvSpPr>
          <p:cNvPr id="15" name="Google Shape;688;g36a7fda6971_1_538">
            <a:extLst>
              <a:ext uri="{FF2B5EF4-FFF2-40B4-BE49-F238E27FC236}">
                <a16:creationId xmlns:a16="http://schemas.microsoft.com/office/drawing/2014/main" id="{28A00B20-2AF5-BB40-62B7-144202CA5769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24201"/>
            <a:ext cx="7031712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Installing Software in Linux</a:t>
            </a:r>
            <a:endParaRPr lang="en-US" sz="44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837724" y="2406968"/>
            <a:ext cx="4158734" cy="3946088"/>
          </a:xfrm>
          <a:prstGeom prst="roundRect">
            <a:avLst>
              <a:gd name="adj" fmla="val 909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099899" y="2669143"/>
            <a:ext cx="2986326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Debian-Based Systems</a:t>
            </a:r>
            <a:endParaRPr lang="en-US" sz="22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099899" y="3164681"/>
            <a:ext cx="3634383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Ubuntu, Debian, and derivatives use APT</a:t>
            </a:r>
            <a:endParaRPr lang="en-US" sz="1850" dirty="0"/>
          </a:p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1099899" y="4199930"/>
            <a:ext cx="3634383" cy="1507927"/>
          </a:xfrm>
          <a:prstGeom prst="roundRect">
            <a:avLst>
              <a:gd name="adj" fmla="val 23812"/>
            </a:avLst>
          </a:prstGeom>
          <a:solidFill>
            <a:srgbClr val="E6E6F2"/>
          </a:solidFill>
        </p:spPr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1087993" y="4199930"/>
            <a:ext cx="3658195" cy="1507927"/>
          </a:xfrm>
          <a:prstGeom prst="roundRect">
            <a:avLst>
              <a:gd name="adj" fmla="val 2381"/>
            </a:avLst>
          </a:prstGeom>
          <a:solidFill>
            <a:srgbClr val="E6E6F2"/>
          </a:solidFill>
        </p:spPr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327309" y="4379357"/>
            <a:ext cx="3179564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sudo apt-get update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sudo apt-get install package-name</a:t>
            </a:r>
            <a:endParaRPr lang="en-US" sz="185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5235773" y="2406968"/>
            <a:ext cx="4158734" cy="3946088"/>
          </a:xfrm>
          <a:prstGeom prst="roundRect">
            <a:avLst>
              <a:gd name="adj" fmla="val 9099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5497949" y="2669143"/>
            <a:ext cx="312229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Red Hat-Based Systems</a:t>
            </a:r>
            <a:endParaRPr lang="en-US" sz="22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5497949" y="3164681"/>
            <a:ext cx="3634383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CentOS, RHEL, and Fedora use YUM/DNF</a:t>
            </a:r>
            <a:endParaRPr lang="en-US" sz="1850" dirty="0"/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5497949" y="4199930"/>
            <a:ext cx="3634383" cy="1890951"/>
          </a:xfrm>
          <a:prstGeom prst="roundRect">
            <a:avLst>
              <a:gd name="adj" fmla="val 18989"/>
            </a:avLst>
          </a:prstGeom>
          <a:solidFill>
            <a:srgbClr val="E6E6F2"/>
          </a:solidFill>
        </p:spPr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5486043" y="4199930"/>
            <a:ext cx="3658195" cy="1890951"/>
          </a:xfrm>
          <a:prstGeom prst="roundRect">
            <a:avLst>
              <a:gd name="adj" fmla="val 1899"/>
            </a:avLst>
          </a:prstGeom>
          <a:solidFill>
            <a:srgbClr val="E6E6F2"/>
          </a:solidFill>
        </p:spPr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5725358" y="4379357"/>
            <a:ext cx="3179564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sudo yum install package-name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sudo dnf install package-name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9633823" y="2406968"/>
            <a:ext cx="4158853" cy="3946088"/>
          </a:xfrm>
          <a:prstGeom prst="roundRect">
            <a:avLst>
              <a:gd name="adj" fmla="val 9099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95999" y="2669143"/>
            <a:ext cx="3634502" cy="7038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Universal Package Managers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5999" y="3516630"/>
            <a:ext cx="363450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Cross-distribution solutions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9895999" y="4168854"/>
            <a:ext cx="3634502" cy="1890951"/>
          </a:xfrm>
          <a:prstGeom prst="roundRect">
            <a:avLst>
              <a:gd name="adj" fmla="val 18989"/>
            </a:avLst>
          </a:prstGeom>
          <a:solidFill>
            <a:srgbClr val="E6E6F2"/>
          </a:solidFill>
        </p:spPr>
      </p:sp>
      <p:sp>
        <p:nvSpPr>
          <p:cNvPr id="19" name="Shape 17"/>
          <p:cNvSpPr/>
          <p:nvPr/>
        </p:nvSpPr>
        <p:spPr>
          <a:xfrm>
            <a:off x="9884093" y="4168854"/>
            <a:ext cx="3658314" cy="1890951"/>
          </a:xfrm>
          <a:prstGeom prst="roundRect">
            <a:avLst>
              <a:gd name="adj" fmla="val 1899"/>
            </a:avLst>
          </a:prstGeom>
          <a:solidFill>
            <a:srgbClr val="E6E6F2"/>
          </a:solidFill>
        </p:spPr>
      </p:sp>
      <p:sp>
        <p:nvSpPr>
          <p:cNvPr id="20" name="Text 18"/>
          <p:cNvSpPr/>
          <p:nvPr/>
        </p:nvSpPr>
        <p:spPr>
          <a:xfrm>
            <a:off x="10123408" y="4348282"/>
            <a:ext cx="3179683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sudo snap install package-name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flatpak install package-name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837724" y="6622256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Software repositories function like app stores for Linux, providing thousands of pre-compiled packages ready for installation.</a:t>
            </a:r>
            <a:endParaRPr lang="en-US" sz="1850" dirty="0"/>
          </a:p>
        </p:txBody>
      </p:sp>
      <p:sp>
        <p:nvSpPr>
          <p:cNvPr id="22" name="Google Shape;688;g36a7fda6971_1_538">
            <a:extLst>
              <a:ext uri="{FF2B5EF4-FFF2-40B4-BE49-F238E27FC236}">
                <a16:creationId xmlns:a16="http://schemas.microsoft.com/office/drawing/2014/main" id="{11B619E4-D81D-864F-C26B-46962CB98CCF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264" y="612815"/>
            <a:ext cx="5239464" cy="654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Applications of Linux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64" y="1601748"/>
            <a:ext cx="556617" cy="5566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9264" y="2436614"/>
            <a:ext cx="2619732" cy="3274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Server Infrastructure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79264" y="2897624"/>
            <a:ext cx="6396752" cy="712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Powers web servers, databases, mail servers, and enterprise applications worldwide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265" y="1601748"/>
            <a:ext cx="556617" cy="5566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4265" y="2436614"/>
            <a:ext cx="2619732" cy="3274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DevOps &amp; Cloud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454265" y="2897624"/>
            <a:ext cx="6396871" cy="712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Essential for Docker containers, Kubernetes orchestration, AWS, Google Cloud Platform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264" y="4055388"/>
            <a:ext cx="556617" cy="5566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9264" y="4890254"/>
            <a:ext cx="2619732" cy="3274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Cybersecurity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779264" y="5351264"/>
            <a:ext cx="6396752" cy="712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Kali Linux leads penetration testing, vulnerability assessment, and security research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265" y="4055388"/>
            <a:ext cx="556617" cy="5566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4265" y="4890254"/>
            <a:ext cx="2619732" cy="3274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IoT &amp; Embedded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7454265" y="5351264"/>
            <a:ext cx="6396871" cy="712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Runs on routers, smart devices, automotive systems, and industrial equipment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779264" y="6314242"/>
            <a:ext cx="13071872" cy="1302425"/>
          </a:xfrm>
          <a:prstGeom prst="roundRect">
            <a:avLst>
              <a:gd name="adj" fmla="val 25646"/>
            </a:avLst>
          </a:prstGeom>
          <a:solidFill>
            <a:srgbClr val="B7C2FB"/>
          </a:solidFill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911" y="6656665"/>
            <a:ext cx="278249" cy="22264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02807" y="6592491"/>
            <a:ext cx="12125682" cy="712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Remarkable fact:</a:t>
            </a:r>
            <a:r>
              <a:rPr lang="en-US" sz="17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Linux powers over 90% of the world's top supercomputers, demonstrating its scalability and performance capabilities.</a:t>
            </a:r>
            <a:endParaRPr lang="en-US" sz="1750" dirty="0"/>
          </a:p>
        </p:txBody>
      </p:sp>
      <p:sp>
        <p:nvSpPr>
          <p:cNvPr id="18" name="Google Shape;688;g36a7fda6971_1_538">
            <a:extLst>
              <a:ext uri="{FF2B5EF4-FFF2-40B4-BE49-F238E27FC236}">
                <a16:creationId xmlns:a16="http://schemas.microsoft.com/office/drawing/2014/main" id="{DC8B1A89-8749-5637-5AE9-4D45735A1828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5620" y="-2963412"/>
            <a:ext cx="7539088" cy="14156423"/>
            <a:chOff x="0" y="0"/>
            <a:chExt cx="12565145" cy="23594038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-5514446" y="5514446"/>
              <a:ext cx="23594038" cy="12565145"/>
              <a:chOff x="0" y="0"/>
              <a:chExt cx="812800" cy="4328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43286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2861">
                    <a:moveTo>
                      <a:pt x="406400" y="0"/>
                    </a:moveTo>
                    <a:lnTo>
                      <a:pt x="812800" y="432861"/>
                    </a:lnTo>
                    <a:lnTo>
                      <a:pt x="0" y="432861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  <p:txBody>
              <a:bodyPr/>
              <a:lstStyle/>
              <a:p>
                <a:endParaRPr lang="en-US" sz="112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27000" y="200971"/>
                <a:ext cx="558800" cy="200971"/>
              </a:xfrm>
              <a:prstGeom prst="rect">
                <a:avLst/>
              </a:prstGeom>
            </p:spPr>
            <p:txBody>
              <a:bodyPr lIns="40640" tIns="40640" rIns="40640" bIns="40640" rtlCol="0" anchor="ctr"/>
              <a:lstStyle/>
              <a:p>
                <a:pPr algn="ctr">
                  <a:lnSpc>
                    <a:spcPts val="2160"/>
                  </a:lnSpc>
                </a:pPr>
                <a:endParaRPr sz="112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5400000">
              <a:off x="-5514446" y="5514446"/>
              <a:ext cx="23594038" cy="12565145"/>
              <a:chOff x="0" y="0"/>
              <a:chExt cx="812800" cy="4328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43286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2861">
                    <a:moveTo>
                      <a:pt x="406400" y="0"/>
                    </a:moveTo>
                    <a:lnTo>
                      <a:pt x="812800" y="432861"/>
                    </a:lnTo>
                    <a:lnTo>
                      <a:pt x="0" y="432861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8E8E8">
                      <a:alpha val="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 sz="112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7000" y="200971"/>
                <a:ext cx="558800" cy="200971"/>
              </a:xfrm>
              <a:prstGeom prst="rect">
                <a:avLst/>
              </a:prstGeom>
            </p:spPr>
            <p:txBody>
              <a:bodyPr lIns="40640" tIns="40640" rIns="40640" bIns="40640" rtlCol="0" anchor="ctr"/>
              <a:lstStyle/>
              <a:p>
                <a:pPr algn="ctr">
                  <a:lnSpc>
                    <a:spcPts val="2160"/>
                  </a:lnSpc>
                </a:pPr>
                <a:endParaRPr sz="1120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839226" y="2964900"/>
            <a:ext cx="9173455" cy="2274007"/>
            <a:chOff x="0" y="0"/>
            <a:chExt cx="15289092" cy="37900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89092" cy="3790012"/>
            </a:xfrm>
            <a:custGeom>
              <a:avLst/>
              <a:gdLst/>
              <a:ahLst/>
              <a:cxnLst/>
              <a:rect l="l" t="t" r="r" b="b"/>
              <a:pathLst>
                <a:path w="15289092" h="3790012">
                  <a:moveTo>
                    <a:pt x="0" y="0"/>
                  </a:moveTo>
                  <a:lnTo>
                    <a:pt x="15289092" y="0"/>
                  </a:lnTo>
                  <a:lnTo>
                    <a:pt x="15289092" y="3790012"/>
                  </a:lnTo>
                  <a:lnTo>
                    <a:pt x="0" y="3790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00025"/>
              <a:ext cx="15289092" cy="35899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00"/>
                </a:lnSpc>
              </a:pPr>
              <a:r>
                <a:rPr lang="en-US" sz="8400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Thank You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7531" y="6825637"/>
            <a:ext cx="7550612" cy="877147"/>
            <a:chOff x="0" y="0"/>
            <a:chExt cx="15289092" cy="17761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89092" cy="1776119"/>
            </a:xfrm>
            <a:custGeom>
              <a:avLst/>
              <a:gdLst/>
              <a:ahLst/>
              <a:cxnLst/>
              <a:rect l="l" t="t" r="r" b="b"/>
              <a:pathLst>
                <a:path w="15289092" h="1776119">
                  <a:moveTo>
                    <a:pt x="0" y="0"/>
                  </a:moveTo>
                  <a:lnTo>
                    <a:pt x="15289092" y="0"/>
                  </a:lnTo>
                  <a:lnTo>
                    <a:pt x="15289092" y="1776119"/>
                  </a:lnTo>
                  <a:lnTo>
                    <a:pt x="0" y="1776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6200"/>
              <a:ext cx="15289092" cy="1699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199"/>
                </a:lnSpc>
              </a:pPr>
              <a:r>
                <a:rPr lang="en-US" sz="3199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Wait Nahi, </a:t>
              </a:r>
              <a:r>
                <a:rPr lang="en-US" sz="3199" b="1" i="1">
                  <a:solidFill>
                    <a:srgbClr val="FF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Great</a:t>
              </a:r>
              <a:r>
                <a:rPr lang="en-US" sz="3199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Kar!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4485" y="5007415"/>
            <a:ext cx="3382255" cy="462984"/>
            <a:chOff x="0" y="0"/>
            <a:chExt cx="5637092" cy="771640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11622" cy="746252"/>
            </a:xfrm>
            <a:custGeom>
              <a:avLst/>
              <a:gdLst/>
              <a:ahLst/>
              <a:cxnLst/>
              <a:rect l="l" t="t" r="r" b="b"/>
              <a:pathLst>
                <a:path w="5611622" h="746252">
                  <a:moveTo>
                    <a:pt x="0" y="373126"/>
                  </a:moveTo>
                  <a:cubicBezTo>
                    <a:pt x="0" y="167005"/>
                    <a:pt x="171958" y="0"/>
                    <a:pt x="384048" y="0"/>
                  </a:cubicBezTo>
                  <a:lnTo>
                    <a:pt x="5227574" y="0"/>
                  </a:lnTo>
                  <a:cubicBezTo>
                    <a:pt x="5439664" y="0"/>
                    <a:pt x="5611622" y="167005"/>
                    <a:pt x="5611622" y="373126"/>
                  </a:cubicBezTo>
                  <a:cubicBezTo>
                    <a:pt x="5611622" y="579247"/>
                    <a:pt x="5439664" y="746252"/>
                    <a:pt x="5227574" y="746252"/>
                  </a:cubicBezTo>
                  <a:lnTo>
                    <a:pt x="384048" y="746252"/>
                  </a:lnTo>
                  <a:cubicBezTo>
                    <a:pt x="171958" y="746252"/>
                    <a:pt x="0" y="579247"/>
                    <a:pt x="0" y="373126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637022" cy="771652"/>
            </a:xfrm>
            <a:custGeom>
              <a:avLst/>
              <a:gdLst/>
              <a:ahLst/>
              <a:cxnLst/>
              <a:rect l="l" t="t" r="r" b="b"/>
              <a:pathLst>
                <a:path w="5637022" h="771652">
                  <a:moveTo>
                    <a:pt x="0" y="385826"/>
                  </a:moveTo>
                  <a:cubicBezTo>
                    <a:pt x="0" y="172339"/>
                    <a:pt x="178054" y="0"/>
                    <a:pt x="396748" y="0"/>
                  </a:cubicBezTo>
                  <a:lnTo>
                    <a:pt x="5240274" y="0"/>
                  </a:lnTo>
                  <a:lnTo>
                    <a:pt x="5240274" y="12700"/>
                  </a:lnTo>
                  <a:lnTo>
                    <a:pt x="5240274" y="0"/>
                  </a:lnTo>
                  <a:cubicBezTo>
                    <a:pt x="5459095" y="0"/>
                    <a:pt x="5637022" y="172339"/>
                    <a:pt x="5637022" y="385826"/>
                  </a:cubicBezTo>
                  <a:lnTo>
                    <a:pt x="5624322" y="385826"/>
                  </a:lnTo>
                  <a:lnTo>
                    <a:pt x="5637022" y="385826"/>
                  </a:lnTo>
                  <a:lnTo>
                    <a:pt x="5624322" y="385826"/>
                  </a:lnTo>
                  <a:lnTo>
                    <a:pt x="5637022" y="385826"/>
                  </a:lnTo>
                  <a:cubicBezTo>
                    <a:pt x="5637022" y="599313"/>
                    <a:pt x="5458968" y="771652"/>
                    <a:pt x="5240274" y="771652"/>
                  </a:cubicBezTo>
                  <a:lnTo>
                    <a:pt x="5240274" y="758952"/>
                  </a:lnTo>
                  <a:lnTo>
                    <a:pt x="5240274" y="771652"/>
                  </a:lnTo>
                  <a:lnTo>
                    <a:pt x="396748" y="771652"/>
                  </a:lnTo>
                  <a:lnTo>
                    <a:pt x="396748" y="758952"/>
                  </a:lnTo>
                  <a:lnTo>
                    <a:pt x="396748" y="771652"/>
                  </a:lnTo>
                  <a:cubicBezTo>
                    <a:pt x="178054" y="771652"/>
                    <a:pt x="0" y="599186"/>
                    <a:pt x="0" y="385826"/>
                  </a:cubicBezTo>
                  <a:lnTo>
                    <a:pt x="12700" y="385826"/>
                  </a:lnTo>
                  <a:lnTo>
                    <a:pt x="0" y="385826"/>
                  </a:lnTo>
                  <a:moveTo>
                    <a:pt x="25400" y="385826"/>
                  </a:moveTo>
                  <a:lnTo>
                    <a:pt x="12700" y="385826"/>
                  </a:lnTo>
                  <a:lnTo>
                    <a:pt x="25400" y="385826"/>
                  </a:lnTo>
                  <a:cubicBezTo>
                    <a:pt x="25400" y="584581"/>
                    <a:pt x="191262" y="746252"/>
                    <a:pt x="396748" y="746252"/>
                  </a:cubicBezTo>
                  <a:lnTo>
                    <a:pt x="5240274" y="746252"/>
                  </a:lnTo>
                  <a:cubicBezTo>
                    <a:pt x="5445760" y="746252"/>
                    <a:pt x="5611622" y="584581"/>
                    <a:pt x="5611622" y="385826"/>
                  </a:cubicBezTo>
                  <a:cubicBezTo>
                    <a:pt x="5611622" y="187071"/>
                    <a:pt x="5445760" y="25400"/>
                    <a:pt x="5240274" y="25400"/>
                  </a:cubicBezTo>
                  <a:lnTo>
                    <a:pt x="396748" y="25400"/>
                  </a:lnTo>
                  <a:lnTo>
                    <a:pt x="396748" y="12700"/>
                  </a:lnTo>
                  <a:lnTo>
                    <a:pt x="396748" y="25400"/>
                  </a:lnTo>
                  <a:cubicBezTo>
                    <a:pt x="191262" y="25400"/>
                    <a:pt x="25400" y="187071"/>
                    <a:pt x="25400" y="385826"/>
                  </a:cubicBezTo>
                  <a:close/>
                </a:path>
              </a:pathLst>
            </a:custGeom>
            <a:solidFill>
              <a:srgbClr val="242424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5552" y="5033579"/>
            <a:ext cx="3300450" cy="443765"/>
            <a:chOff x="-32787" y="0"/>
            <a:chExt cx="5500751" cy="7396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67964" cy="646330"/>
            </a:xfrm>
            <a:custGeom>
              <a:avLst/>
              <a:gdLst/>
              <a:ahLst/>
              <a:cxnLst/>
              <a:rect l="l" t="t" r="r" b="b"/>
              <a:pathLst>
                <a:path w="5467964" h="646330">
                  <a:moveTo>
                    <a:pt x="0" y="0"/>
                  </a:moveTo>
                  <a:lnTo>
                    <a:pt x="5467964" y="0"/>
                  </a:lnTo>
                  <a:lnTo>
                    <a:pt x="5467964" y="646330"/>
                  </a:lnTo>
                  <a:lnTo>
                    <a:pt x="0" y="646330"/>
                  </a:lnTo>
                  <a:close/>
                </a:path>
              </a:pathLst>
            </a:custGeom>
            <a:solidFill>
              <a:srgbClr val="242424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32787" y="93279"/>
              <a:ext cx="5467964" cy="6463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60"/>
                </a:lnSpc>
              </a:pPr>
              <a:r>
                <a:rPr lang="en-US" spc="246" dirty="0">
                  <a:solidFill>
                    <a:srgbClr val="242424"/>
                  </a:solidFill>
                  <a:latin typeface="Open Sans"/>
                  <a:ea typeface="Open Sans"/>
                  <a:cs typeface="Open Sans"/>
                  <a:sym typeface="Open Sans"/>
                </a:rPr>
                <a:t>www.herovired.com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10883049" y="3392049"/>
            <a:ext cx="2714278" cy="1445504"/>
            <a:chOff x="0" y="0"/>
            <a:chExt cx="812800" cy="43286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4" name="Group 24"/>
          <p:cNvGrpSpPr/>
          <p:nvPr/>
        </p:nvGrpSpPr>
        <p:grpSpPr>
          <a:xfrm rot="5400000">
            <a:off x="12253580" y="5842564"/>
            <a:ext cx="1585748" cy="844500"/>
            <a:chOff x="0" y="0"/>
            <a:chExt cx="812800" cy="4328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12006508" y="1140154"/>
            <a:ext cx="1357139" cy="722752"/>
            <a:chOff x="0" y="0"/>
            <a:chExt cx="812800" cy="4328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392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0" name="Group 30"/>
          <p:cNvGrpSpPr/>
          <p:nvPr/>
        </p:nvGrpSpPr>
        <p:grpSpPr>
          <a:xfrm rot="5400000">
            <a:off x="12946450" y="2694352"/>
            <a:ext cx="1016041" cy="541098"/>
            <a:chOff x="0" y="0"/>
            <a:chExt cx="812800" cy="43286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5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9919381" y="2061669"/>
            <a:ext cx="1357139" cy="722752"/>
            <a:chOff x="0" y="0"/>
            <a:chExt cx="812800" cy="43286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217B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6" name="Group 36"/>
          <p:cNvGrpSpPr/>
          <p:nvPr/>
        </p:nvGrpSpPr>
        <p:grpSpPr>
          <a:xfrm rot="5400000">
            <a:off x="10280756" y="5789133"/>
            <a:ext cx="1357139" cy="722752"/>
            <a:chOff x="0" y="0"/>
            <a:chExt cx="812800" cy="4328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BD6A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9" name="Group 39"/>
          <p:cNvGrpSpPr/>
          <p:nvPr/>
        </p:nvGrpSpPr>
        <p:grpSpPr>
          <a:xfrm rot="5400000">
            <a:off x="11043640" y="967473"/>
            <a:ext cx="618308" cy="329284"/>
            <a:chOff x="0" y="0"/>
            <a:chExt cx="812800" cy="43286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2" name="Group 42"/>
          <p:cNvGrpSpPr/>
          <p:nvPr/>
        </p:nvGrpSpPr>
        <p:grpSpPr>
          <a:xfrm rot="5400000">
            <a:off x="13149376" y="4684342"/>
            <a:ext cx="474799" cy="252857"/>
            <a:chOff x="0" y="0"/>
            <a:chExt cx="812800" cy="43286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217B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5" name="Group 45"/>
          <p:cNvGrpSpPr/>
          <p:nvPr/>
        </p:nvGrpSpPr>
        <p:grpSpPr>
          <a:xfrm rot="5400000">
            <a:off x="13825144" y="3988372"/>
            <a:ext cx="474799" cy="252857"/>
            <a:chOff x="0" y="0"/>
            <a:chExt cx="812800" cy="43286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8" name="Group 48"/>
          <p:cNvGrpSpPr/>
          <p:nvPr/>
        </p:nvGrpSpPr>
        <p:grpSpPr>
          <a:xfrm rot="5400000">
            <a:off x="10869429" y="7330078"/>
            <a:ext cx="281815" cy="150083"/>
            <a:chOff x="0" y="0"/>
            <a:chExt cx="812800" cy="43286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51" name="Group 51"/>
          <p:cNvGrpSpPr/>
          <p:nvPr/>
        </p:nvGrpSpPr>
        <p:grpSpPr>
          <a:xfrm rot="5400000">
            <a:off x="11563668" y="6790415"/>
            <a:ext cx="618308" cy="329284"/>
            <a:chOff x="0" y="0"/>
            <a:chExt cx="812800" cy="43286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392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sp>
        <p:nvSpPr>
          <p:cNvPr id="54" name="Freeform 54"/>
          <p:cNvSpPr/>
          <p:nvPr/>
        </p:nvSpPr>
        <p:spPr>
          <a:xfrm>
            <a:off x="867530" y="822960"/>
            <a:ext cx="3478472" cy="748517"/>
          </a:xfrm>
          <a:custGeom>
            <a:avLst/>
            <a:gdLst/>
            <a:ahLst/>
            <a:cxnLst/>
            <a:rect l="l" t="t" r="r" b="b"/>
            <a:pathLst>
              <a:path w="4348090" h="935646">
                <a:moveTo>
                  <a:pt x="0" y="0"/>
                </a:moveTo>
                <a:lnTo>
                  <a:pt x="4348090" y="0"/>
                </a:lnTo>
                <a:lnTo>
                  <a:pt x="4348090" y="935646"/>
                </a:lnTo>
                <a:lnTo>
                  <a:pt x="0" y="935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61" t="-51913" r="-8261" b="-51913"/>
            </a:stretch>
          </a:blipFill>
        </p:spPr>
        <p:txBody>
          <a:bodyPr/>
          <a:lstStyle/>
          <a:p>
            <a:endParaRPr lang="en-US" sz="112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3.99692913385826,&quot;left&quot;:54.33748031496062,&quot;top&quot;:111.64685039370079,&quot;width&quot;:1043.325039370078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7155905511811,&quot;left&quot;:65.96251968503937,&quot;top&quot;:189.52503937007873,&quot;width&quot;:673.7624409448819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597</Words>
  <Application>Microsoft Office PowerPoint</Application>
  <PresentationFormat>Custom</PresentationFormat>
  <Paragraphs>113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Consolas</vt:lpstr>
      <vt:lpstr>Open Sans Bold Italics</vt:lpstr>
      <vt:lpstr>Nunito Semi Bold</vt:lpstr>
      <vt:lpstr>Calibri</vt:lpstr>
      <vt:lpstr>Open Sans Bold</vt:lpstr>
      <vt:lpstr>Arial</vt:lpstr>
      <vt:lpstr>PT Sans</vt:lpstr>
      <vt:lpstr>Roboto</vt:lpstr>
      <vt:lpstr>Open Sans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Kondeti</dc:creator>
  <cp:lastModifiedBy>Venkat Kondeti</cp:lastModifiedBy>
  <cp:revision>3</cp:revision>
  <dcterms:created xsi:type="dcterms:W3CDTF">2025-09-26T11:23:00Z</dcterms:created>
  <dcterms:modified xsi:type="dcterms:W3CDTF">2025-09-29T06:03:03Z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D6C3B30B3B934276956DF3074FE05D76_12</vt:lpwstr>
  </property>
  <property fmtid="{D5CDD505-2E9C-101B-9397-08002B2CF9AE}" pid="3" name="KSOProductBuildVer">
    <vt:lpwstr>2057-12.2.0.22549</vt:lpwstr>
  </property>
</Properties>
</file>