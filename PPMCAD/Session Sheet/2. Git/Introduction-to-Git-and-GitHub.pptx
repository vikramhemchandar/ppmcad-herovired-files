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30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28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unito Light" pitchFamily="2" charset="0"/>
      <p:regular r:id="rId18"/>
      <p:italic r:id="rId19"/>
    </p:embeddedFont>
    <p:embeddedFont>
      <p:font typeface="Nunito Semi Bold" panose="020B0604020202020204" charset="0"/>
      <p:regular r:id="rId20"/>
      <p:bold r:id="rId21"/>
    </p:embeddedFont>
    <p:embeddedFont>
      <p:font typeface="Open Sans" pitchFamily="2" charset="0"/>
      <p:regular r:id="rId22"/>
      <p:bold r:id="rId23"/>
      <p:italic r:id="rId24"/>
      <p:boldItalic r:id="rId25"/>
    </p:embeddedFont>
    <p:embeddedFont>
      <p:font typeface="PT Sans" panose="020B0503020203020204" pitchFamily="34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5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6874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84688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680"/>
            </a:lvl1pPr>
          </a:lstStyle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marL="0" lvl="0" indent="0" algn="ctr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28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1480" lvl="0" indent="-41148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3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91540" lvl="1" indent="-34290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71600" lvl="2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28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920240" lvl="3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68880" lvl="4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17520" lvl="5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66160" lvl="6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114800" lvl="7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663440" lvl="8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1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lvl="1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7280" lvl="2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45920" lvl="3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94560" lvl="4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743200" lvl="5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3291840" lvl="6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840480" lvl="7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4389120" lvl="8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slideLayout" Target="../slideLayouts/slideLayout1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image" Target="../media/image4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8" Type="http://schemas.openxmlformats.org/officeDocument/2006/relationships/tags" Target="../tags/tag9.xml"/><Relationship Id="rId51" Type="http://schemas.openxmlformats.org/officeDocument/2006/relationships/notesSlide" Target="../notesSlides/notesSlide7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1" Type="http://schemas.openxmlformats.org/officeDocument/2006/relationships/tags" Target="../tags/tag2.xml"/><Relationship Id="rId6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C6030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120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5545991" y="345257"/>
            <a:ext cx="14156423" cy="7539088"/>
            <a:chOff x="0" y="0"/>
            <a:chExt cx="812800" cy="4328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E10000">
                    <a:alpha val="100000"/>
                  </a:srgbClr>
                </a:gs>
                <a:gs pos="50000">
                  <a:srgbClr val="FE0100">
                    <a:alpha val="0"/>
                  </a:srgbClr>
                </a:gs>
                <a:gs pos="100000">
                  <a:srgbClr val="FE01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6" y="7442736"/>
            <a:ext cx="3382213" cy="462991"/>
            <a:chOff x="0" y="0"/>
            <a:chExt cx="5637022" cy="771652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F7C3C9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5223" y="7525549"/>
            <a:ext cx="3280778" cy="407616"/>
            <a:chOff x="0" y="94417"/>
            <a:chExt cx="5467964" cy="679361"/>
          </a:xfrm>
        </p:grpSpPr>
        <p:sp>
          <p:nvSpPr>
            <p:cNvPr id="19" name="Freeform 19"/>
            <p:cNvSpPr/>
            <p:nvPr/>
          </p:nvSpPr>
          <p:spPr>
            <a:xfrm>
              <a:off x="0" y="127448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4417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67530" y="736462"/>
            <a:ext cx="3478472" cy="921515"/>
          </a:xfrm>
          <a:custGeom>
            <a:avLst/>
            <a:gdLst/>
            <a:ahLst/>
            <a:cxnLst/>
            <a:rect l="l" t="t" r="r" b="b"/>
            <a:pathLst>
              <a:path w="4348090" h="1151893">
                <a:moveTo>
                  <a:pt x="0" y="0"/>
                </a:moveTo>
                <a:lnTo>
                  <a:pt x="4348090" y="0"/>
                </a:lnTo>
                <a:lnTo>
                  <a:pt x="4348090" y="1151894"/>
                </a:lnTo>
                <a:lnTo>
                  <a:pt x="0" y="115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69" t="-31372" r="-7269" b="-31372"/>
            </a:stretch>
          </a:blipFill>
        </p:spPr>
        <p:txBody>
          <a:bodyPr/>
          <a:lstStyle/>
          <a:p>
            <a:endParaRPr lang="en-US" sz="1120"/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7" name="Group 37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0" name="Group 40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5676C2E-FDD8-196E-CE18-EB7E3C6A07F0}"/>
              </a:ext>
            </a:extLst>
          </p:cNvPr>
          <p:cNvSpPr txBox="1"/>
          <p:nvPr/>
        </p:nvSpPr>
        <p:spPr>
          <a:xfrm>
            <a:off x="905380" y="4875530"/>
            <a:ext cx="7443514" cy="398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dk1"/>
              </a:buClr>
              <a:buSzPts val="2800"/>
            </a:pPr>
            <a:r>
              <a:rPr lang="en-US" sz="1680" i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Version Control for Modern Software Development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BE6B4-9479-DBA7-DDE0-AEDECCCFA4BC}"/>
              </a:ext>
            </a:extLst>
          </p:cNvPr>
          <p:cNvSpPr txBox="1"/>
          <p:nvPr/>
        </p:nvSpPr>
        <p:spPr>
          <a:xfrm>
            <a:off x="905380" y="3129291"/>
            <a:ext cx="79492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 to Git &amp; GitHub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EE7ADD-AF53-87F2-AC80-282F1A5B8721}"/>
              </a:ext>
            </a:extLst>
          </p:cNvPr>
          <p:cNvSpPr txBox="1"/>
          <p:nvPr/>
        </p:nvSpPr>
        <p:spPr>
          <a:xfrm>
            <a:off x="905380" y="5371180"/>
            <a:ext cx="7443514" cy="398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dk1"/>
              </a:buClr>
              <a:buSzPts val="2800"/>
            </a:pPr>
            <a:r>
              <a:rPr lang="en-US" sz="1680" i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Essential tools every developer needs to master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105590-A531-0B46-4618-77E72E161440}"/>
              </a:ext>
            </a:extLst>
          </p:cNvPr>
          <p:cNvGrpSpPr/>
          <p:nvPr/>
        </p:nvGrpSpPr>
        <p:grpSpPr>
          <a:xfrm>
            <a:off x="6320591" y="4495963"/>
            <a:ext cx="1801233" cy="1555761"/>
            <a:chOff x="5924477" y="1925058"/>
            <a:chExt cx="3569510" cy="308305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0346FE-5A5B-CD0A-F3F7-5D7DCB43405D}"/>
                </a:ext>
              </a:extLst>
            </p:cNvPr>
            <p:cNvSpPr/>
            <p:nvPr/>
          </p:nvSpPr>
          <p:spPr>
            <a:xfrm>
              <a:off x="5936872" y="1937728"/>
              <a:ext cx="3557115" cy="3070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Image 0" descr="preencoded.png">
              <a:extLst>
                <a:ext uri="{FF2B5EF4-FFF2-40B4-BE49-F238E27FC236}">
                  <a16:creationId xmlns:a16="http://schemas.microsoft.com/office/drawing/2014/main" id="{A853B45C-497E-5214-7EA6-237A78DB4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4477" y="1925058"/>
              <a:ext cx="3557115" cy="30703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5" y="1848485"/>
            <a:ext cx="5523230" cy="4306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486138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Git?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549128"/>
            <a:ext cx="3614618" cy="2551986"/>
          </a:xfrm>
          <a:prstGeom prst="roundRect">
            <a:avLst>
              <a:gd name="adj" fmla="val 14070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6299" y="281130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Distributed VCS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6299" y="3306842"/>
            <a:ext cx="3090267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Git is a Distributed Version Control System that tracks every change in your codebase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549128"/>
            <a:ext cx="3614618" cy="2551986"/>
          </a:xfrm>
          <a:prstGeom prst="roundRect">
            <a:avLst>
              <a:gd name="adj" fmla="val 14070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0233" y="281130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Collaboration Power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40233" y="3306842"/>
            <a:ext cx="3090267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Enables seamless teamwork among multiple developers working on the same project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340429"/>
            <a:ext cx="7468553" cy="1402913"/>
          </a:xfrm>
          <a:prstGeom prst="roundRect">
            <a:avLst>
              <a:gd name="adj" fmla="val 2559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6299" y="560260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Open Source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6299" y="6098143"/>
            <a:ext cx="6944201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Free and created by Linus Torvalds, the same mind behind Linux</a:t>
            </a:r>
            <a:endParaRPr lang="en-US" sz="1850" dirty="0"/>
          </a:p>
        </p:txBody>
      </p:sp>
      <p:sp>
        <p:nvSpPr>
          <p:cNvPr id="13" name="Google Shape;688;g36a7fda6971_1_538">
            <a:extLst>
              <a:ext uri="{FF2B5EF4-FFF2-40B4-BE49-F238E27FC236}">
                <a16:creationId xmlns:a16="http://schemas.microsoft.com/office/drawing/2014/main" id="{39C7D7AC-03D1-53BC-0DEB-504ACD79484E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95926"/>
            <a:ext cx="10760393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Centralized vs Distributed Version Control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758916"/>
            <a:ext cx="6477476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395573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Centralized VCS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7039" y="4451271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Single central server stores everything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77039" y="4977884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Risk of data loss if server fails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77039" y="5444609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Requires constant network connection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77039" y="5911334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Examples: SVN, Perforce</a:t>
            </a:r>
            <a:endParaRPr lang="en-US" sz="1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758916"/>
            <a:ext cx="6477476" cy="9575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54516" y="395573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Distributed VCS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554516" y="4451271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Every developer has a complete copy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554516" y="4977884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More secure and resilient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554516" y="5444609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Works offline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554516" y="5911334"/>
            <a:ext cx="599884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Faster operations</a:t>
            </a:r>
            <a:endParaRPr lang="en-US" sz="1850" dirty="0"/>
          </a:p>
        </p:txBody>
      </p:sp>
      <p:sp>
        <p:nvSpPr>
          <p:cNvPr id="15" name="Google Shape;688;g36a7fda6971_1_538">
            <a:extLst>
              <a:ext uri="{FF2B5EF4-FFF2-40B4-BE49-F238E27FC236}">
                <a16:creationId xmlns:a16="http://schemas.microsoft.com/office/drawing/2014/main" id="{9DC93CDC-B4D1-88C4-DE07-4E58617F670D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8560"/>
            <a:ext cx="11350704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Why Git is Crucial in Software Development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21550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281916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Team Collaboration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314700"/>
            <a:ext cx="632781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Multiple developers can work simultaneously without conflicts, merging changes seamlessly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43" y="1921550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4743" y="281916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Complete History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64743" y="3314700"/>
            <a:ext cx="6327934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Every change is tracked with timestamps, authors, and detailed commit messages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559498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7724" y="5457111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Branching &amp; Merging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7724" y="5952649"/>
            <a:ext cx="632781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Create parallel development paths for features, experiments, and bug fixes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4743" y="4559498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4743" y="5457111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Safety Net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64743" y="5952649"/>
            <a:ext cx="6327934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Easily rollback to stable versions when bugs are introduced or features don't work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37724" y="6987897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Git has become the industry standard for DevOps workflows and virtually all open-source projects.</a:t>
            </a:r>
            <a:endParaRPr lang="en-US" sz="1850" dirty="0"/>
          </a:p>
        </p:txBody>
      </p:sp>
      <p:sp>
        <p:nvSpPr>
          <p:cNvPr id="16" name="Google Shape;688;g36a7fda6971_1_538">
            <a:extLst>
              <a:ext uri="{FF2B5EF4-FFF2-40B4-BE49-F238E27FC236}">
                <a16:creationId xmlns:a16="http://schemas.microsoft.com/office/drawing/2014/main" id="{1CF12906-A33D-7208-D476-B334DB7B6965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6771"/>
            <a:ext cx="576965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Introduction to GitHub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39077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GitHub?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730341"/>
            <a:ext cx="618553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GitHub is a cloud-based platform that hosts Git repositories, making collaboration and code sharing effortless.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7724" y="376559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5559" y="384786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Repository Hosting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15559" y="4439126"/>
            <a:ext cx="5407700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Store your Git repositories in the cloud with unlimited public repos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37724" y="5683925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5559" y="5766197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Collaboration Tools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15559" y="6357461"/>
            <a:ext cx="5407700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Issues tracking, pull requests, project boards, and team management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614761" y="2168962"/>
            <a:ext cx="6185535" cy="1513880"/>
          </a:xfrm>
          <a:prstGeom prst="roundRect">
            <a:avLst>
              <a:gd name="adj" fmla="val 2371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4557" y="2438757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Public Repositories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84557" y="3030022"/>
            <a:ext cx="5645944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Open source projects visible to everyone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7614761" y="3922157"/>
            <a:ext cx="6185535" cy="1513880"/>
          </a:xfrm>
          <a:prstGeom prst="roundRect">
            <a:avLst>
              <a:gd name="adj" fmla="val 2371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4557" y="4191953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Private Repositories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884557" y="4783217"/>
            <a:ext cx="5645944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Secure code for personal or enterprise projects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614761" y="5705237"/>
            <a:ext cx="618553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Used by millions of developers worldwide for both open-source contributions and enterprise development.</a:t>
            </a:r>
            <a:endParaRPr lang="en-US" sz="1850" dirty="0"/>
          </a:p>
        </p:txBody>
      </p:sp>
      <p:sp>
        <p:nvSpPr>
          <p:cNvPr id="18" name="Google Shape;688;g36a7fda6971_1_538">
            <a:extLst>
              <a:ext uri="{FF2B5EF4-FFF2-40B4-BE49-F238E27FC236}">
                <a16:creationId xmlns:a16="http://schemas.microsoft.com/office/drawing/2014/main" id="{EE6EA646-456C-1D39-60AE-6A6E2FE9C10F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05771"/>
            <a:ext cx="9903857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Creating GitHub Account &amp; Repository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88538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964894"/>
            <a:ext cx="4158734" cy="30480"/>
          </a:xfrm>
          <a:prstGeom prst="rect">
            <a:avLst/>
          </a:prstGeom>
          <a:solidFill>
            <a:srgbClr val="2D4DF2"/>
          </a:solidFill>
        </p:spPr>
      </p:sp>
      <p:sp>
        <p:nvSpPr>
          <p:cNvPr id="5" name="Text 3"/>
          <p:cNvSpPr/>
          <p:nvPr/>
        </p:nvSpPr>
        <p:spPr>
          <a:xfrm>
            <a:off x="837724" y="3145512"/>
            <a:ext cx="2962989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Create GitHub Account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641050"/>
            <a:ext cx="4158734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Sign up at github.com with your email and choose a memorable username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235773" y="2588538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2964894"/>
            <a:ext cx="4158734" cy="30480"/>
          </a:xfrm>
          <a:prstGeom prst="rect">
            <a:avLst/>
          </a:prstGeom>
          <a:solidFill>
            <a:srgbClr val="018CE1"/>
          </a:solidFill>
        </p:spPr>
      </p:sp>
      <p:sp>
        <p:nvSpPr>
          <p:cNvPr id="9" name="Text 7"/>
          <p:cNvSpPr/>
          <p:nvPr/>
        </p:nvSpPr>
        <p:spPr>
          <a:xfrm>
            <a:off x="5235773" y="314551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New Repository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773" y="3641050"/>
            <a:ext cx="4158734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Click the "+" icon and select "New repository" from your dashboard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33823" y="2588538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2964894"/>
            <a:ext cx="4158853" cy="30480"/>
          </a:xfrm>
          <a:prstGeom prst="rect">
            <a:avLst/>
          </a:prstGeom>
          <a:solidFill>
            <a:srgbClr val="DA33BF"/>
          </a:solidFill>
        </p:spPr>
      </p:sp>
      <p:sp>
        <p:nvSpPr>
          <p:cNvPr id="13" name="Text 11"/>
          <p:cNvSpPr/>
          <p:nvPr/>
        </p:nvSpPr>
        <p:spPr>
          <a:xfrm>
            <a:off x="9633823" y="314551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Repository Details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3823" y="3641050"/>
            <a:ext cx="4158853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Choose a descriptive name and add a brief description of your project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4825841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37724" y="5202198"/>
            <a:ext cx="6357818" cy="30480"/>
          </a:xfrm>
          <a:prstGeom prst="rect">
            <a:avLst/>
          </a:prstGeom>
          <a:solidFill>
            <a:srgbClr val="2D4DF2"/>
          </a:solidFill>
        </p:spPr>
      </p:sp>
      <p:sp>
        <p:nvSpPr>
          <p:cNvPr id="17" name="Text 15"/>
          <p:cNvSpPr/>
          <p:nvPr/>
        </p:nvSpPr>
        <p:spPr>
          <a:xfrm>
            <a:off x="837724" y="538281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Visibility Settings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7724" y="5878354"/>
            <a:ext cx="6357818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Select Public (open source) or Private (restricted access) based on your needs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434858" y="4825841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7434858" y="5202198"/>
            <a:ext cx="6357818" cy="30480"/>
          </a:xfrm>
          <a:prstGeom prst="rect">
            <a:avLst/>
          </a:prstGeom>
          <a:solidFill>
            <a:srgbClr val="018CE1"/>
          </a:solidFill>
        </p:spPr>
      </p:sp>
      <p:sp>
        <p:nvSpPr>
          <p:cNvPr id="21" name="Text 19"/>
          <p:cNvSpPr/>
          <p:nvPr/>
        </p:nvSpPr>
        <p:spPr>
          <a:xfrm>
            <a:off x="7434858" y="538281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Initialize Options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4858" y="5878354"/>
            <a:ext cx="6357818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Add README.md for documentation, .gitignore for excluded files, and choose an appropriate license</a:t>
            </a:r>
            <a:endParaRPr lang="en-US" sz="1850" dirty="0"/>
          </a:p>
        </p:txBody>
      </p:sp>
      <p:sp>
        <p:nvSpPr>
          <p:cNvPr id="23" name="Google Shape;688;g36a7fda6971_1_538">
            <a:extLst>
              <a:ext uri="{FF2B5EF4-FFF2-40B4-BE49-F238E27FC236}">
                <a16:creationId xmlns:a16="http://schemas.microsoft.com/office/drawing/2014/main" id="{9FAEE01F-E22F-BAA6-D83E-1EB920762101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580192"/>
            <a:ext cx="6053852" cy="6205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Git Ignore &amp; Basic Settings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38426" y="1728192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.gitignore File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38426" y="2249448"/>
            <a:ext cx="7686199" cy="675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Tells Git which files and folders to exclude from tracking. Essential for keeping repositories clean.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8426" y="3273862"/>
            <a:ext cx="105489" cy="105489"/>
          </a:xfrm>
          <a:prstGeom prst="roundRect">
            <a:avLst>
              <a:gd name="adj" fmla="val 433410"/>
            </a:avLst>
          </a:prstGeom>
          <a:solidFill>
            <a:srgbClr val="2D4DF2"/>
          </a:solidFill>
        </p:spPr>
      </p:sp>
      <p:sp>
        <p:nvSpPr>
          <p:cNvPr id="6" name="Text 4"/>
          <p:cNvSpPr/>
          <p:nvPr/>
        </p:nvSpPr>
        <p:spPr>
          <a:xfrm>
            <a:off x="1054894" y="3161824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Log Files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54894" y="3683079"/>
            <a:ext cx="3394710" cy="675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Application logs that change frequently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713327" y="3273862"/>
            <a:ext cx="105489" cy="105489"/>
          </a:xfrm>
          <a:prstGeom prst="roundRect">
            <a:avLst>
              <a:gd name="adj" fmla="val 433410"/>
            </a:avLst>
          </a:prstGeom>
          <a:solidFill>
            <a:srgbClr val="018CE1"/>
          </a:solidFill>
        </p:spPr>
      </p:sp>
      <p:sp>
        <p:nvSpPr>
          <p:cNvPr id="9" name="Text 7"/>
          <p:cNvSpPr/>
          <p:nvPr/>
        </p:nvSpPr>
        <p:spPr>
          <a:xfrm>
            <a:off x="5029795" y="3161824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Dependencies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029795" y="3683079"/>
            <a:ext cx="3394829" cy="3375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node_modules, vendor folders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38426" y="4892159"/>
            <a:ext cx="105489" cy="105489"/>
          </a:xfrm>
          <a:prstGeom prst="roundRect">
            <a:avLst>
              <a:gd name="adj" fmla="val 433410"/>
            </a:avLst>
          </a:prstGeom>
          <a:solidFill>
            <a:srgbClr val="DA33BF"/>
          </a:solidFill>
        </p:spPr>
      </p:sp>
      <p:sp>
        <p:nvSpPr>
          <p:cNvPr id="12" name="Text 10"/>
          <p:cNvSpPr/>
          <p:nvPr/>
        </p:nvSpPr>
        <p:spPr>
          <a:xfrm>
            <a:off x="1054894" y="4780121"/>
            <a:ext cx="2482334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Sensitive Data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54894" y="5301377"/>
            <a:ext cx="7369731" cy="3375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API keys, passwords, config files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8426" y="5876211"/>
            <a:ext cx="2599968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Basic Git Configuration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38426" y="6423779"/>
            <a:ext cx="7686199" cy="991553"/>
          </a:xfrm>
          <a:prstGeom prst="roundRect">
            <a:avLst>
              <a:gd name="adj" fmla="val 31919"/>
            </a:avLst>
          </a:prstGeom>
          <a:solidFill>
            <a:srgbClr val="E6E6F2"/>
          </a:solidFill>
        </p:spPr>
      </p:sp>
      <p:sp>
        <p:nvSpPr>
          <p:cNvPr id="16" name="Shape 14"/>
          <p:cNvSpPr/>
          <p:nvPr/>
        </p:nvSpPr>
        <p:spPr>
          <a:xfrm>
            <a:off x="727948" y="6423779"/>
            <a:ext cx="7707154" cy="991553"/>
          </a:xfrm>
          <a:prstGeom prst="roundRect">
            <a:avLst>
              <a:gd name="adj" fmla="val 3192"/>
            </a:avLst>
          </a:prstGeom>
          <a:solidFill>
            <a:srgbClr val="E6E6F2"/>
          </a:solidFill>
        </p:spPr>
      </p:sp>
      <p:sp>
        <p:nvSpPr>
          <p:cNvPr id="17" name="Text 15"/>
          <p:cNvSpPr/>
          <p:nvPr/>
        </p:nvSpPr>
        <p:spPr>
          <a:xfrm>
            <a:off x="938927" y="6582013"/>
            <a:ext cx="7285196" cy="6750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config --global user.name "Your Name"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config --global user.email "you@example.com"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947071" y="1754505"/>
            <a:ext cx="4952524" cy="1571625"/>
          </a:xfrm>
          <a:prstGeom prst="roundRect">
            <a:avLst>
              <a:gd name="adj" fmla="val 20138"/>
            </a:avLst>
          </a:prstGeom>
          <a:solidFill>
            <a:srgbClr val="B6D6FC"/>
          </a:solidFill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049" y="2077403"/>
            <a:ext cx="263723" cy="21097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32752" y="2018228"/>
            <a:ext cx="4055864" cy="10126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Pro tip: GitHub provides template .gitignore files for popular programming languages and frameworks!</a:t>
            </a:r>
            <a:endParaRPr lang="en-US" sz="1650" dirty="0"/>
          </a:p>
        </p:txBody>
      </p:sp>
      <p:sp>
        <p:nvSpPr>
          <p:cNvPr id="21" name="Google Shape;688;g36a7fda6971_1_538">
            <a:extLst>
              <a:ext uri="{FF2B5EF4-FFF2-40B4-BE49-F238E27FC236}">
                <a16:creationId xmlns:a16="http://schemas.microsoft.com/office/drawing/2014/main" id="{B0BC6ABE-DC70-255F-395D-E4A735E57DD7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780" y="564713"/>
            <a:ext cx="5371267" cy="6040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Essential Git Commands</a:t>
            </a:r>
            <a:endParaRPr lang="en-US" sz="38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18780" y="4458414"/>
            <a:ext cx="13192839" cy="22860"/>
          </a:xfrm>
          <a:prstGeom prst="roundRect">
            <a:avLst>
              <a:gd name="adj" fmla="val 1347620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2500193" y="3842445"/>
            <a:ext cx="22860" cy="616029"/>
          </a:xfrm>
          <a:prstGeom prst="roundRect">
            <a:avLst>
              <a:gd name="adj" fmla="val 1347620"/>
            </a:avLst>
          </a:prstGeom>
          <a:solidFill>
            <a:srgbClr val="2D4DF2"/>
          </a:solidFill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2280642" y="4227374"/>
            <a:ext cx="462082" cy="462082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2366665" y="4277142"/>
            <a:ext cx="289917" cy="362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303615" y="1579364"/>
            <a:ext cx="2416135" cy="301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Initialize Repository</a:t>
            </a:r>
            <a:endParaRPr lang="en-US" sz="1900" dirty="0"/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924044" y="2112288"/>
            <a:ext cx="3175397" cy="636508"/>
          </a:xfrm>
          <a:prstGeom prst="roundRect">
            <a:avLst>
              <a:gd name="adj" fmla="val 48399"/>
            </a:avLst>
          </a:prstGeom>
          <a:solidFill>
            <a:srgbClr val="E6E6F2"/>
          </a:solidFill>
        </p:spPr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913805" y="2112288"/>
            <a:ext cx="3195876" cy="636508"/>
          </a:xfrm>
          <a:prstGeom prst="roundRect">
            <a:avLst>
              <a:gd name="adj" fmla="val 4840"/>
            </a:avLst>
          </a:prstGeom>
          <a:solidFill>
            <a:srgbClr val="E6E6F2"/>
          </a:solidFill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119068" y="2266236"/>
            <a:ext cx="2785348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init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24044" y="2979777"/>
            <a:ext cx="3175397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Creates a new Git repository in your current directory</a:t>
            </a:r>
            <a:endParaRPr lang="en-US" sz="160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4421505" y="4458355"/>
            <a:ext cx="22860" cy="616029"/>
          </a:xfrm>
          <a:prstGeom prst="roundRect">
            <a:avLst>
              <a:gd name="adj" fmla="val 1347620"/>
            </a:avLst>
          </a:prstGeom>
          <a:solidFill>
            <a:srgbClr val="018CE1"/>
          </a:solidFill>
        </p:spPr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4201954" y="4227374"/>
            <a:ext cx="462082" cy="462082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4287976" y="4277142"/>
            <a:ext cx="289917" cy="362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3225046" y="5279827"/>
            <a:ext cx="2416135" cy="301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Clone Repository</a:t>
            </a:r>
            <a:endParaRPr lang="en-US" sz="1900" dirty="0"/>
          </a:p>
        </p:txBody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2845356" y="5812750"/>
            <a:ext cx="3175516" cy="636508"/>
          </a:xfrm>
          <a:prstGeom prst="roundRect">
            <a:avLst>
              <a:gd name="adj" fmla="val 48399"/>
            </a:avLst>
          </a:prstGeom>
          <a:solidFill>
            <a:srgbClr val="E6E6F2"/>
          </a:solidFill>
        </p:spPr>
      </p:sp>
      <p:sp>
        <p:nvSpPr>
          <p:cNvPr id="17" name="Shape 15"/>
          <p:cNvSpPr/>
          <p:nvPr>
            <p:custDataLst>
              <p:tags r:id="rId15"/>
            </p:custDataLst>
          </p:nvPr>
        </p:nvSpPr>
        <p:spPr>
          <a:xfrm>
            <a:off x="2835116" y="5812750"/>
            <a:ext cx="3195995" cy="636508"/>
          </a:xfrm>
          <a:prstGeom prst="roundRect">
            <a:avLst>
              <a:gd name="adj" fmla="val 4840"/>
            </a:avLst>
          </a:prstGeom>
          <a:solidFill>
            <a:srgbClr val="E6E6F2"/>
          </a:solidFill>
        </p:spPr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3040380" y="5966698"/>
            <a:ext cx="2785467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clone &lt;url&gt;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7"/>
            </p:custDataLst>
          </p:nvPr>
        </p:nvSpPr>
        <p:spPr>
          <a:xfrm>
            <a:off x="2845356" y="6680240"/>
            <a:ext cx="3175516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Downloads a repository from GitHub to your local machine</a:t>
            </a:r>
            <a:endParaRPr lang="en-US" sz="1600" dirty="0"/>
          </a:p>
        </p:txBody>
      </p:sp>
      <p:sp>
        <p:nvSpPr>
          <p:cNvPr id="20" name="Shape 18"/>
          <p:cNvSpPr/>
          <p:nvPr>
            <p:custDataLst>
              <p:tags r:id="rId18"/>
            </p:custDataLst>
          </p:nvPr>
        </p:nvSpPr>
        <p:spPr>
          <a:xfrm>
            <a:off x="6342817" y="3842445"/>
            <a:ext cx="22860" cy="616029"/>
          </a:xfrm>
          <a:prstGeom prst="roundRect">
            <a:avLst>
              <a:gd name="adj" fmla="val 1347620"/>
            </a:avLst>
          </a:prstGeom>
          <a:solidFill>
            <a:srgbClr val="DA33BF"/>
          </a:solidFill>
        </p:spPr>
      </p:sp>
      <p:sp>
        <p:nvSpPr>
          <p:cNvPr id="21" name="Shape 19"/>
          <p:cNvSpPr/>
          <p:nvPr>
            <p:custDataLst>
              <p:tags r:id="rId19"/>
            </p:custDataLst>
          </p:nvPr>
        </p:nvSpPr>
        <p:spPr>
          <a:xfrm>
            <a:off x="6123265" y="4227374"/>
            <a:ext cx="462082" cy="462082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6209288" y="4277142"/>
            <a:ext cx="289917" cy="362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1"/>
          <p:cNvSpPr/>
          <p:nvPr>
            <p:custDataLst>
              <p:tags r:id="rId21"/>
            </p:custDataLst>
          </p:nvPr>
        </p:nvSpPr>
        <p:spPr>
          <a:xfrm>
            <a:off x="5146358" y="1579364"/>
            <a:ext cx="2416135" cy="301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Check Status</a:t>
            </a:r>
            <a:endParaRPr lang="en-US" sz="1900" dirty="0"/>
          </a:p>
        </p:txBody>
      </p:sp>
      <p:sp>
        <p:nvSpPr>
          <p:cNvPr id="24" name="Shape 22"/>
          <p:cNvSpPr/>
          <p:nvPr>
            <p:custDataLst>
              <p:tags r:id="rId22"/>
            </p:custDataLst>
          </p:nvPr>
        </p:nvSpPr>
        <p:spPr>
          <a:xfrm>
            <a:off x="4766667" y="2112288"/>
            <a:ext cx="3175516" cy="636508"/>
          </a:xfrm>
          <a:prstGeom prst="roundRect">
            <a:avLst>
              <a:gd name="adj" fmla="val 48399"/>
            </a:avLst>
          </a:prstGeom>
          <a:solidFill>
            <a:srgbClr val="E6E6F2"/>
          </a:solidFill>
        </p:spPr>
      </p:sp>
      <p:sp>
        <p:nvSpPr>
          <p:cNvPr id="25" name="Shape 23"/>
          <p:cNvSpPr/>
          <p:nvPr>
            <p:custDataLst>
              <p:tags r:id="rId23"/>
            </p:custDataLst>
          </p:nvPr>
        </p:nvSpPr>
        <p:spPr>
          <a:xfrm>
            <a:off x="4756428" y="2112288"/>
            <a:ext cx="3195995" cy="636508"/>
          </a:xfrm>
          <a:prstGeom prst="roundRect">
            <a:avLst>
              <a:gd name="adj" fmla="val 4840"/>
            </a:avLst>
          </a:prstGeom>
          <a:solidFill>
            <a:srgbClr val="E6E6F2"/>
          </a:solidFill>
        </p:spPr>
      </p:sp>
      <p:sp>
        <p:nvSpPr>
          <p:cNvPr id="26" name="Text 24"/>
          <p:cNvSpPr/>
          <p:nvPr>
            <p:custDataLst>
              <p:tags r:id="rId24"/>
            </p:custDataLst>
          </p:nvPr>
        </p:nvSpPr>
        <p:spPr>
          <a:xfrm>
            <a:off x="4961692" y="2266236"/>
            <a:ext cx="2785467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status</a:t>
            </a:r>
            <a:endParaRPr lang="en-US" sz="1600" dirty="0"/>
          </a:p>
        </p:txBody>
      </p:sp>
      <p:sp>
        <p:nvSpPr>
          <p:cNvPr id="27" name="Text 25"/>
          <p:cNvSpPr/>
          <p:nvPr>
            <p:custDataLst>
              <p:tags r:id="rId25"/>
            </p:custDataLst>
          </p:nvPr>
        </p:nvSpPr>
        <p:spPr>
          <a:xfrm>
            <a:off x="4766667" y="2979777"/>
            <a:ext cx="3175516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Shows which files have been modified, added, or deleted</a:t>
            </a:r>
            <a:endParaRPr lang="en-US" sz="1600" dirty="0"/>
          </a:p>
        </p:txBody>
      </p:sp>
      <p:sp>
        <p:nvSpPr>
          <p:cNvPr id="28" name="Shape 26"/>
          <p:cNvSpPr/>
          <p:nvPr>
            <p:custDataLst>
              <p:tags r:id="rId26"/>
            </p:custDataLst>
          </p:nvPr>
        </p:nvSpPr>
        <p:spPr>
          <a:xfrm>
            <a:off x="8264247" y="4458355"/>
            <a:ext cx="22860" cy="616029"/>
          </a:xfrm>
          <a:prstGeom prst="roundRect">
            <a:avLst>
              <a:gd name="adj" fmla="val 1347620"/>
            </a:avLst>
          </a:prstGeom>
          <a:solidFill>
            <a:srgbClr val="2D4DF2"/>
          </a:solidFill>
        </p:spPr>
      </p:sp>
      <p:sp>
        <p:nvSpPr>
          <p:cNvPr id="29" name="Shape 27"/>
          <p:cNvSpPr/>
          <p:nvPr>
            <p:custDataLst>
              <p:tags r:id="rId27"/>
            </p:custDataLst>
          </p:nvPr>
        </p:nvSpPr>
        <p:spPr>
          <a:xfrm>
            <a:off x="8044696" y="4227374"/>
            <a:ext cx="462082" cy="462082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28"/>
            </p:custDataLst>
          </p:nvPr>
        </p:nvSpPr>
        <p:spPr>
          <a:xfrm>
            <a:off x="8130719" y="4277142"/>
            <a:ext cx="289917" cy="362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31" name="Text 29"/>
          <p:cNvSpPr/>
          <p:nvPr>
            <p:custDataLst>
              <p:tags r:id="rId29"/>
            </p:custDataLst>
          </p:nvPr>
        </p:nvSpPr>
        <p:spPr>
          <a:xfrm>
            <a:off x="7067788" y="5279827"/>
            <a:ext cx="2416135" cy="301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Stage Changes</a:t>
            </a:r>
            <a:endParaRPr lang="en-US" sz="1900" dirty="0"/>
          </a:p>
        </p:txBody>
      </p:sp>
      <p:sp>
        <p:nvSpPr>
          <p:cNvPr id="32" name="Shape 30"/>
          <p:cNvSpPr/>
          <p:nvPr>
            <p:custDataLst>
              <p:tags r:id="rId30"/>
            </p:custDataLst>
          </p:nvPr>
        </p:nvSpPr>
        <p:spPr>
          <a:xfrm>
            <a:off x="6688098" y="5812750"/>
            <a:ext cx="3175516" cy="636508"/>
          </a:xfrm>
          <a:prstGeom prst="roundRect">
            <a:avLst>
              <a:gd name="adj" fmla="val 48399"/>
            </a:avLst>
          </a:prstGeom>
          <a:solidFill>
            <a:srgbClr val="E6E6F2"/>
          </a:solidFill>
        </p:spPr>
      </p:sp>
      <p:sp>
        <p:nvSpPr>
          <p:cNvPr id="33" name="Shape 31"/>
          <p:cNvSpPr/>
          <p:nvPr>
            <p:custDataLst>
              <p:tags r:id="rId31"/>
            </p:custDataLst>
          </p:nvPr>
        </p:nvSpPr>
        <p:spPr>
          <a:xfrm>
            <a:off x="6677858" y="5812750"/>
            <a:ext cx="3195995" cy="636508"/>
          </a:xfrm>
          <a:prstGeom prst="roundRect">
            <a:avLst>
              <a:gd name="adj" fmla="val 4840"/>
            </a:avLst>
          </a:prstGeom>
          <a:solidFill>
            <a:srgbClr val="E6E6F2"/>
          </a:solidFill>
        </p:spPr>
      </p:sp>
      <p:sp>
        <p:nvSpPr>
          <p:cNvPr id="34" name="Text 32"/>
          <p:cNvSpPr/>
          <p:nvPr>
            <p:custDataLst>
              <p:tags r:id="rId32"/>
            </p:custDataLst>
          </p:nvPr>
        </p:nvSpPr>
        <p:spPr>
          <a:xfrm>
            <a:off x="6883122" y="5966698"/>
            <a:ext cx="2785467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 . or git add &lt;file&gt;</a:t>
            </a:r>
            <a:endParaRPr lang="en-US" sz="1600" dirty="0"/>
          </a:p>
        </p:txBody>
      </p:sp>
      <p:sp>
        <p:nvSpPr>
          <p:cNvPr id="35" name="Text 33"/>
          <p:cNvSpPr/>
          <p:nvPr>
            <p:custDataLst>
              <p:tags r:id="rId33"/>
            </p:custDataLst>
          </p:nvPr>
        </p:nvSpPr>
        <p:spPr>
          <a:xfrm>
            <a:off x="6688098" y="6680240"/>
            <a:ext cx="3175516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Prepares files for commit (adds to staging area)</a:t>
            </a:r>
            <a:endParaRPr lang="en-US" sz="1600" dirty="0"/>
          </a:p>
        </p:txBody>
      </p:sp>
      <p:sp>
        <p:nvSpPr>
          <p:cNvPr id="36" name="Shape 34"/>
          <p:cNvSpPr/>
          <p:nvPr>
            <p:custDataLst>
              <p:tags r:id="rId34"/>
            </p:custDataLst>
          </p:nvPr>
        </p:nvSpPr>
        <p:spPr>
          <a:xfrm>
            <a:off x="10185559" y="3842445"/>
            <a:ext cx="22860" cy="616029"/>
          </a:xfrm>
          <a:prstGeom prst="roundRect">
            <a:avLst>
              <a:gd name="adj" fmla="val 1347620"/>
            </a:avLst>
          </a:prstGeom>
          <a:solidFill>
            <a:srgbClr val="018CE1"/>
          </a:solidFill>
        </p:spPr>
      </p:sp>
      <p:sp>
        <p:nvSpPr>
          <p:cNvPr id="37" name="Shape 35"/>
          <p:cNvSpPr/>
          <p:nvPr>
            <p:custDataLst>
              <p:tags r:id="rId35"/>
            </p:custDataLst>
          </p:nvPr>
        </p:nvSpPr>
        <p:spPr>
          <a:xfrm>
            <a:off x="9966008" y="4227374"/>
            <a:ext cx="462082" cy="462082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38" name="Text 36"/>
          <p:cNvSpPr/>
          <p:nvPr>
            <p:custDataLst>
              <p:tags r:id="rId36"/>
            </p:custDataLst>
          </p:nvPr>
        </p:nvSpPr>
        <p:spPr>
          <a:xfrm>
            <a:off x="10052030" y="4277142"/>
            <a:ext cx="289917" cy="362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</a:t>
            </a:r>
            <a:endParaRPr lang="en-US" sz="2250" dirty="0"/>
          </a:p>
        </p:txBody>
      </p:sp>
      <p:sp>
        <p:nvSpPr>
          <p:cNvPr id="39" name="Text 37"/>
          <p:cNvSpPr/>
          <p:nvPr>
            <p:custDataLst>
              <p:tags r:id="rId37"/>
            </p:custDataLst>
          </p:nvPr>
        </p:nvSpPr>
        <p:spPr>
          <a:xfrm>
            <a:off x="8989100" y="1579364"/>
            <a:ext cx="2416135" cy="301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Commit Changes</a:t>
            </a:r>
            <a:endParaRPr lang="en-US" sz="1900" dirty="0"/>
          </a:p>
        </p:txBody>
      </p:sp>
      <p:sp>
        <p:nvSpPr>
          <p:cNvPr id="40" name="Shape 38"/>
          <p:cNvSpPr/>
          <p:nvPr>
            <p:custDataLst>
              <p:tags r:id="rId38"/>
            </p:custDataLst>
          </p:nvPr>
        </p:nvSpPr>
        <p:spPr>
          <a:xfrm>
            <a:off x="8609409" y="2112288"/>
            <a:ext cx="3175516" cy="636508"/>
          </a:xfrm>
          <a:prstGeom prst="roundRect">
            <a:avLst>
              <a:gd name="adj" fmla="val 48399"/>
            </a:avLst>
          </a:prstGeom>
          <a:solidFill>
            <a:srgbClr val="E6E6F2"/>
          </a:solidFill>
        </p:spPr>
      </p:sp>
      <p:sp>
        <p:nvSpPr>
          <p:cNvPr id="41" name="Shape 39"/>
          <p:cNvSpPr/>
          <p:nvPr>
            <p:custDataLst>
              <p:tags r:id="rId39"/>
            </p:custDataLst>
          </p:nvPr>
        </p:nvSpPr>
        <p:spPr>
          <a:xfrm>
            <a:off x="8599170" y="2112288"/>
            <a:ext cx="3195995" cy="636508"/>
          </a:xfrm>
          <a:prstGeom prst="roundRect">
            <a:avLst>
              <a:gd name="adj" fmla="val 4840"/>
            </a:avLst>
          </a:prstGeom>
          <a:solidFill>
            <a:srgbClr val="E6E6F2"/>
          </a:solidFill>
        </p:spPr>
      </p:sp>
      <p:sp>
        <p:nvSpPr>
          <p:cNvPr id="42" name="Text 40"/>
          <p:cNvSpPr/>
          <p:nvPr>
            <p:custDataLst>
              <p:tags r:id="rId40"/>
            </p:custDataLst>
          </p:nvPr>
        </p:nvSpPr>
        <p:spPr>
          <a:xfrm>
            <a:off x="8804434" y="2266236"/>
            <a:ext cx="2785467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"message"</a:t>
            </a:r>
            <a:endParaRPr lang="en-US" sz="1600" dirty="0"/>
          </a:p>
        </p:txBody>
      </p:sp>
      <p:sp>
        <p:nvSpPr>
          <p:cNvPr id="43" name="Text 41"/>
          <p:cNvSpPr/>
          <p:nvPr>
            <p:custDataLst>
              <p:tags r:id="rId41"/>
            </p:custDataLst>
          </p:nvPr>
        </p:nvSpPr>
        <p:spPr>
          <a:xfrm>
            <a:off x="8609409" y="2979777"/>
            <a:ext cx="3175516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Saves staged changes with a descriptive message</a:t>
            </a:r>
            <a:endParaRPr lang="en-US" sz="1600" dirty="0"/>
          </a:p>
        </p:txBody>
      </p:sp>
      <p:sp>
        <p:nvSpPr>
          <p:cNvPr id="44" name="Shape 42"/>
          <p:cNvSpPr/>
          <p:nvPr>
            <p:custDataLst>
              <p:tags r:id="rId42"/>
            </p:custDataLst>
          </p:nvPr>
        </p:nvSpPr>
        <p:spPr>
          <a:xfrm>
            <a:off x="12106989" y="4458355"/>
            <a:ext cx="22860" cy="616029"/>
          </a:xfrm>
          <a:prstGeom prst="roundRect">
            <a:avLst>
              <a:gd name="adj" fmla="val 1347620"/>
            </a:avLst>
          </a:prstGeom>
          <a:solidFill>
            <a:srgbClr val="DA33BF"/>
          </a:solidFill>
        </p:spPr>
      </p:sp>
      <p:sp>
        <p:nvSpPr>
          <p:cNvPr id="45" name="Shape 43"/>
          <p:cNvSpPr/>
          <p:nvPr>
            <p:custDataLst>
              <p:tags r:id="rId43"/>
            </p:custDataLst>
          </p:nvPr>
        </p:nvSpPr>
        <p:spPr>
          <a:xfrm>
            <a:off x="11887438" y="4227374"/>
            <a:ext cx="462082" cy="462082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46" name="Text 44"/>
          <p:cNvSpPr/>
          <p:nvPr>
            <p:custDataLst>
              <p:tags r:id="rId44"/>
            </p:custDataLst>
          </p:nvPr>
        </p:nvSpPr>
        <p:spPr>
          <a:xfrm>
            <a:off x="11973461" y="4277142"/>
            <a:ext cx="289917" cy="362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6</a:t>
            </a:r>
            <a:endParaRPr lang="en-US" sz="2250" dirty="0"/>
          </a:p>
        </p:txBody>
      </p:sp>
      <p:sp>
        <p:nvSpPr>
          <p:cNvPr id="47" name="Text 45"/>
          <p:cNvSpPr/>
          <p:nvPr>
            <p:custDataLst>
              <p:tags r:id="rId45"/>
            </p:custDataLst>
          </p:nvPr>
        </p:nvSpPr>
        <p:spPr>
          <a:xfrm>
            <a:off x="10910530" y="5279827"/>
            <a:ext cx="2416135" cy="301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Push &amp; Pull</a:t>
            </a:r>
            <a:endParaRPr lang="en-US" sz="1900" dirty="0"/>
          </a:p>
        </p:txBody>
      </p:sp>
      <p:sp>
        <p:nvSpPr>
          <p:cNvPr id="48" name="Shape 46"/>
          <p:cNvSpPr/>
          <p:nvPr>
            <p:custDataLst>
              <p:tags r:id="rId46"/>
            </p:custDataLst>
          </p:nvPr>
        </p:nvSpPr>
        <p:spPr>
          <a:xfrm>
            <a:off x="10530840" y="5812750"/>
            <a:ext cx="3175516" cy="965121"/>
          </a:xfrm>
          <a:prstGeom prst="roundRect">
            <a:avLst>
              <a:gd name="adj" fmla="val 31920"/>
            </a:avLst>
          </a:prstGeom>
          <a:solidFill>
            <a:srgbClr val="E6E6F2"/>
          </a:solidFill>
        </p:spPr>
      </p:sp>
      <p:sp>
        <p:nvSpPr>
          <p:cNvPr id="49" name="Shape 47"/>
          <p:cNvSpPr/>
          <p:nvPr>
            <p:custDataLst>
              <p:tags r:id="rId47"/>
            </p:custDataLst>
          </p:nvPr>
        </p:nvSpPr>
        <p:spPr>
          <a:xfrm>
            <a:off x="10520601" y="5812750"/>
            <a:ext cx="3195995" cy="965121"/>
          </a:xfrm>
          <a:prstGeom prst="roundRect">
            <a:avLst>
              <a:gd name="adj" fmla="val 3192"/>
            </a:avLst>
          </a:prstGeom>
          <a:solidFill>
            <a:srgbClr val="E6E6F2"/>
          </a:solidFill>
        </p:spPr>
      </p:sp>
      <p:sp>
        <p:nvSpPr>
          <p:cNvPr id="50" name="Text 48"/>
          <p:cNvSpPr/>
          <p:nvPr>
            <p:custDataLst>
              <p:tags r:id="rId48"/>
            </p:custDataLst>
          </p:nvPr>
        </p:nvSpPr>
        <p:spPr>
          <a:xfrm>
            <a:off x="10725864" y="5966698"/>
            <a:ext cx="2785467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push origin main</a:t>
            </a:r>
          </a:p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pull origin main</a:t>
            </a:r>
            <a:endParaRPr lang="en-US" sz="1600" dirty="0"/>
          </a:p>
        </p:txBody>
      </p:sp>
      <p:sp>
        <p:nvSpPr>
          <p:cNvPr id="51" name="Text 49"/>
          <p:cNvSpPr/>
          <p:nvPr>
            <p:custDataLst>
              <p:tags r:id="rId49"/>
            </p:custDataLst>
          </p:nvPr>
        </p:nvSpPr>
        <p:spPr>
          <a:xfrm>
            <a:off x="10530840" y="7008852"/>
            <a:ext cx="3175516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Upload changes to GitHub or download latest updates</a:t>
            </a:r>
            <a:endParaRPr lang="en-US" sz="1600" dirty="0"/>
          </a:p>
        </p:txBody>
      </p:sp>
      <p:sp>
        <p:nvSpPr>
          <p:cNvPr id="52" name="Google Shape;688;g36a7fda6971_1_538">
            <a:extLst>
              <a:ext uri="{FF2B5EF4-FFF2-40B4-BE49-F238E27FC236}">
                <a16:creationId xmlns:a16="http://schemas.microsoft.com/office/drawing/2014/main" id="{09597917-CEF4-58A8-449D-2FE130B8982C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2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295" y="509349"/>
            <a:ext cx="5712143" cy="544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Hands-On Practice Exercises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33557" y="1702356"/>
            <a:ext cx="185142" cy="833557"/>
          </a:xfrm>
          <a:prstGeom prst="roundRect">
            <a:avLst>
              <a:gd name="adj" fmla="val 15008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8295" y="1580793"/>
            <a:ext cx="555665" cy="555665"/>
          </a:xfrm>
          <a:prstGeom prst="roundRect">
            <a:avLst>
              <a:gd name="adj" fmla="val 82280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" y="1684973"/>
            <a:ext cx="277773" cy="3473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102" y="1609725"/>
            <a:ext cx="2179320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Create &amp; Connect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89102" y="1993106"/>
            <a:ext cx="12593003" cy="2963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Set up a local Git repository and link it to a new GitHub repository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111329" y="2998946"/>
            <a:ext cx="185142" cy="833557"/>
          </a:xfrm>
          <a:prstGeom prst="roundRect">
            <a:avLst>
              <a:gd name="adj" fmla="val 15008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6068" y="2877383"/>
            <a:ext cx="555665" cy="555665"/>
          </a:xfrm>
          <a:prstGeom prst="roundRect">
            <a:avLst>
              <a:gd name="adj" fmla="val 82280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14" y="2981563"/>
            <a:ext cx="277773" cy="3473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66875" y="2906316"/>
            <a:ext cx="2179320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First Commit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66875" y="3289697"/>
            <a:ext cx="12315230" cy="2963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Create a new file with content, stage it, commit with a message, and push to GitHub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389221" y="4295537"/>
            <a:ext cx="185142" cy="833557"/>
          </a:xfrm>
          <a:prstGeom prst="roundRect">
            <a:avLst>
              <a:gd name="adj" fmla="val 15008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03960" y="4173974"/>
            <a:ext cx="555665" cy="555665"/>
          </a:xfrm>
          <a:prstGeom prst="roundRect">
            <a:avLst>
              <a:gd name="adj" fmla="val 82280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906" y="4278154"/>
            <a:ext cx="277773" cy="3473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44767" y="4202906"/>
            <a:ext cx="2179320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Make Changes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44767" y="4586288"/>
            <a:ext cx="12037338" cy="2963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Edit your file, commit the changes, and push the updates to see version history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667113" y="5592128"/>
            <a:ext cx="185142" cy="833557"/>
          </a:xfrm>
          <a:prstGeom prst="roundRect">
            <a:avLst>
              <a:gd name="adj" fmla="val 15008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481852" y="5470565"/>
            <a:ext cx="555665" cy="555665"/>
          </a:xfrm>
          <a:prstGeom prst="roundRect">
            <a:avLst>
              <a:gd name="adj" fmla="val 82280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798" y="5574744"/>
            <a:ext cx="277773" cy="3473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22659" y="5499497"/>
            <a:ext cx="2179320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Sync Updates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2222659" y="5882878"/>
            <a:ext cx="11759446" cy="2963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Practice pulling the latest changes from your GitHub repository to stay synchronized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389221" y="6888718"/>
            <a:ext cx="185142" cy="833557"/>
          </a:xfrm>
          <a:prstGeom prst="roundRect">
            <a:avLst>
              <a:gd name="adj" fmla="val 15008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203960" y="6767155"/>
            <a:ext cx="555665" cy="555665"/>
          </a:xfrm>
          <a:prstGeom prst="roundRect">
            <a:avLst>
              <a:gd name="adj" fmla="val 82280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2906" y="6871335"/>
            <a:ext cx="277773" cy="34730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44767" y="6796088"/>
            <a:ext cx="2179320" cy="272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Ignore Files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944767" y="7179469"/>
            <a:ext cx="12037338" cy="2963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Add a .gitignore file and test that excluded files don't get tracked by Git</a:t>
            </a:r>
            <a:endParaRPr lang="en-US" sz="1450" dirty="0"/>
          </a:p>
        </p:txBody>
      </p:sp>
      <p:sp>
        <p:nvSpPr>
          <p:cNvPr id="28" name="Google Shape;688;g36a7fda6971_1_538">
            <a:extLst>
              <a:ext uri="{FF2B5EF4-FFF2-40B4-BE49-F238E27FC236}">
                <a16:creationId xmlns:a16="http://schemas.microsoft.com/office/drawing/2014/main" id="{0BB3A5F6-C7FA-42FE-A6EA-D3A8881D4003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671" y="623649"/>
            <a:ext cx="5548670" cy="666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Wrap Up &amp; Next Steps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671" y="1630799"/>
            <a:ext cx="6408182" cy="1694378"/>
          </a:xfrm>
          <a:prstGeom prst="roundRect">
            <a:avLst>
              <a:gd name="adj" fmla="val 200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226" y="1880354"/>
            <a:ext cx="2667953" cy="3334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Git Foundation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3226" y="2349818"/>
            <a:ext cx="590907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You now understand Git as a powerful version control system for tracking code changes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1630799"/>
            <a:ext cx="6408182" cy="1694378"/>
          </a:xfrm>
          <a:prstGeom prst="roundRect">
            <a:avLst>
              <a:gd name="adj" fmla="val 200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78103" y="1880354"/>
            <a:ext cx="2667953" cy="3334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GitHub Platform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78103" y="2349818"/>
            <a:ext cx="590907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GitHub provides the collaboration tools and hosting to work effectively with teams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948720" y="3665339"/>
            <a:ext cx="2732961" cy="3334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Benefits Mastered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93671" y="4338995"/>
            <a:ext cx="130430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Complete project history and change tracking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671" y="4781193"/>
            <a:ext cx="130430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Seamless team collaboration and code sharing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671" y="5223391"/>
            <a:ext cx="130430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Safe experimentation with easy rollback options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671" y="5665589"/>
            <a:ext cx="130430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Access to the world's largest open-source community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671" y="6283523"/>
            <a:ext cx="13043059" cy="1326594"/>
          </a:xfrm>
          <a:prstGeom prst="roundRect">
            <a:avLst>
              <a:gd name="adj" fmla="val 25643"/>
            </a:avLst>
          </a:prstGeom>
          <a:solidFill>
            <a:srgbClr val="B6FCB8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366" y="6627614"/>
            <a:ext cx="283369" cy="2266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429" y="6566892"/>
            <a:ext cx="120796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Coming Next:</a:t>
            </a:r>
            <a:r>
              <a:rPr lang="en-US" sz="17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Advanced topics including branching strategies, merging techniques, pull request workflows, and collaborative development patterns</a:t>
            </a:r>
            <a:endParaRPr lang="en-US" sz="1750" dirty="0"/>
          </a:p>
        </p:txBody>
      </p:sp>
      <p:sp>
        <p:nvSpPr>
          <p:cNvPr id="17" name="Google Shape;688;g36a7fda6971_1_538">
            <a:extLst>
              <a:ext uri="{FF2B5EF4-FFF2-40B4-BE49-F238E27FC236}">
                <a16:creationId xmlns:a16="http://schemas.microsoft.com/office/drawing/2014/main" id="{E4CB1004-7644-FAEC-0F97-BAF21F74CF2A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620" y="-2963412"/>
            <a:ext cx="7539088" cy="14156423"/>
            <a:chOff x="0" y="0"/>
            <a:chExt cx="12565145" cy="23594038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8E8E8">
                      <a:alpha val="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839226" y="2964900"/>
            <a:ext cx="9173455" cy="2274007"/>
            <a:chOff x="0" y="0"/>
            <a:chExt cx="15289092" cy="37900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89092" cy="3790012"/>
            </a:xfrm>
            <a:custGeom>
              <a:avLst/>
              <a:gdLst/>
              <a:ahLst/>
              <a:cxnLst/>
              <a:rect l="l" t="t" r="r" b="b"/>
              <a:pathLst>
                <a:path w="15289092" h="3790012">
                  <a:moveTo>
                    <a:pt x="0" y="0"/>
                  </a:moveTo>
                  <a:lnTo>
                    <a:pt x="15289092" y="0"/>
                  </a:lnTo>
                  <a:lnTo>
                    <a:pt x="15289092" y="3790012"/>
                  </a:lnTo>
                  <a:lnTo>
                    <a:pt x="0" y="3790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00025"/>
              <a:ext cx="15289092" cy="35899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00"/>
                </a:lnSpc>
              </a:pPr>
              <a:r>
                <a:rPr lang="en-US" sz="8400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Thank You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7531" y="6825637"/>
            <a:ext cx="7550612" cy="877147"/>
            <a:chOff x="0" y="0"/>
            <a:chExt cx="15289092" cy="17761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89092" cy="1776119"/>
            </a:xfrm>
            <a:custGeom>
              <a:avLst/>
              <a:gdLst/>
              <a:ahLst/>
              <a:cxnLst/>
              <a:rect l="l" t="t" r="r" b="b"/>
              <a:pathLst>
                <a:path w="15289092" h="1776119">
                  <a:moveTo>
                    <a:pt x="0" y="0"/>
                  </a:moveTo>
                  <a:lnTo>
                    <a:pt x="15289092" y="0"/>
                  </a:lnTo>
                  <a:lnTo>
                    <a:pt x="15289092" y="1776119"/>
                  </a:lnTo>
                  <a:lnTo>
                    <a:pt x="0" y="1776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15289092" cy="1699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199"/>
                </a:lnSpc>
              </a:pP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Wait Nahi, </a:t>
              </a:r>
              <a:r>
                <a:rPr lang="en-US" sz="3199" b="1" i="1">
                  <a:solidFill>
                    <a:srgbClr val="FF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Great</a:t>
              </a: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Kar!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5" y="5007415"/>
            <a:ext cx="3382255" cy="462984"/>
            <a:chOff x="0" y="0"/>
            <a:chExt cx="5637092" cy="771640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5552" y="5033579"/>
            <a:ext cx="3300450" cy="443765"/>
            <a:chOff x="-32787" y="0"/>
            <a:chExt cx="5500751" cy="7396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242424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32787" y="93279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242424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5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6" name="Group 36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BD6A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9" name="Group 39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2" name="Group 42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5" name="Group 45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8" name="Group 48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54" name="Freeform 54"/>
          <p:cNvSpPr/>
          <p:nvPr/>
        </p:nvSpPr>
        <p:spPr>
          <a:xfrm>
            <a:off x="867530" y="822960"/>
            <a:ext cx="3478472" cy="748517"/>
          </a:xfrm>
          <a:custGeom>
            <a:avLst/>
            <a:gdLst/>
            <a:ahLst/>
            <a:cxnLst/>
            <a:rect l="l" t="t" r="r" b="b"/>
            <a:pathLst>
              <a:path w="4348090" h="935646">
                <a:moveTo>
                  <a:pt x="0" y="0"/>
                </a:moveTo>
                <a:lnTo>
                  <a:pt x="4348090" y="0"/>
                </a:lnTo>
                <a:lnTo>
                  <a:pt x="4348090" y="935646"/>
                </a:lnTo>
                <a:lnTo>
                  <a:pt x="0" y="935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61" t="-51913" r="-8261" b="-51913"/>
            </a:stretch>
          </a:blipFill>
        </p:spPr>
        <p:txBody>
          <a:bodyPr/>
          <a:lstStyle/>
          <a:p>
            <a:endParaRPr lang="en-US" sz="112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9.2687401574802,&quot;left&quot;:56.59685039370079,&quot;top&quot;:124.35937007874016,&quot;width&quot;:1038.806220472440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766</Words>
  <Application>Microsoft Office PowerPoint</Application>
  <PresentationFormat>Custom</PresentationFormat>
  <Paragraphs>133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Consolas</vt:lpstr>
      <vt:lpstr>Open Sans Bold Italics</vt:lpstr>
      <vt:lpstr>Nunito Semi Bold</vt:lpstr>
      <vt:lpstr>Calibri</vt:lpstr>
      <vt:lpstr>Open Sans Bold</vt:lpstr>
      <vt:lpstr>Arial</vt:lpstr>
      <vt:lpstr>PT Sans</vt:lpstr>
      <vt:lpstr>Roboto</vt:lpstr>
      <vt:lpstr>Open Sans</vt:lpstr>
      <vt:lpstr>Nunito Light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Kondeti</dc:creator>
  <cp:lastModifiedBy>Venkat Kondeti</cp:lastModifiedBy>
  <cp:revision>7</cp:revision>
  <dcterms:created xsi:type="dcterms:W3CDTF">2025-09-18T10:08:00Z</dcterms:created>
  <dcterms:modified xsi:type="dcterms:W3CDTF">2025-09-29T06:09:18Z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27BC77F4076D4AF0B541FC3975C2A177_12</vt:lpwstr>
  </property>
  <property fmtid="{D5CDD505-2E9C-101B-9397-08002B2CF9AE}" pid="3" name="KSOProductBuildVer">
    <vt:lpwstr>2057-12.2.0.22549</vt:lpwstr>
  </property>
</Properties>
</file>