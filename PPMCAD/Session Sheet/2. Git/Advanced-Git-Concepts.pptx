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30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28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Nunito Semi Bold" panose="020B0604020202020204" charset="0"/>
      <p:regular r:id="rId21"/>
      <p:bold r:id="rId22"/>
    </p:embeddedFont>
    <p:embeddedFont>
      <p:font typeface="Open Sans" pitchFamily="2" charset="0"/>
      <p:regular r:id="rId23"/>
      <p:bold r:id="rId24"/>
      <p:italic r:id="rId25"/>
      <p:boldItalic r:id="rId26"/>
    </p:embeddedFont>
    <p:embeddedFont>
      <p:font typeface="PT Sans" panose="020B0503020203020204" pitchFamily="3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C6030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120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5545991" y="345257"/>
            <a:ext cx="14156423" cy="7539088"/>
            <a:chOff x="0" y="0"/>
            <a:chExt cx="812800" cy="4328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E10000">
                    <a:alpha val="100000"/>
                  </a:srgbClr>
                </a:gs>
                <a:gs pos="50000">
                  <a:srgbClr val="FE0100">
                    <a:alpha val="0"/>
                  </a:srgbClr>
                </a:gs>
                <a:gs pos="100000">
                  <a:srgbClr val="FE01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6" y="7442736"/>
            <a:ext cx="3382213" cy="462991"/>
            <a:chOff x="0" y="0"/>
            <a:chExt cx="5637022" cy="771652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F7C3C9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5223" y="7525549"/>
            <a:ext cx="3280778" cy="407616"/>
            <a:chOff x="0" y="94417"/>
            <a:chExt cx="5467964" cy="679361"/>
          </a:xfrm>
        </p:grpSpPr>
        <p:sp>
          <p:nvSpPr>
            <p:cNvPr id="19" name="Freeform 19"/>
            <p:cNvSpPr/>
            <p:nvPr/>
          </p:nvSpPr>
          <p:spPr>
            <a:xfrm>
              <a:off x="0" y="127448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4417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67530" y="736462"/>
            <a:ext cx="3478472" cy="921515"/>
          </a:xfrm>
          <a:custGeom>
            <a:avLst/>
            <a:gdLst/>
            <a:ahLst/>
            <a:cxnLst/>
            <a:rect l="l" t="t" r="r" b="b"/>
            <a:pathLst>
              <a:path w="4348090" h="1151893">
                <a:moveTo>
                  <a:pt x="0" y="0"/>
                </a:moveTo>
                <a:lnTo>
                  <a:pt x="4348090" y="0"/>
                </a:lnTo>
                <a:lnTo>
                  <a:pt x="4348090" y="1151894"/>
                </a:lnTo>
                <a:lnTo>
                  <a:pt x="0" y="115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9" t="-31372" r="-7269" b="-31372"/>
            </a:stretch>
          </a:blipFill>
        </p:spPr>
        <p:txBody>
          <a:bodyPr/>
          <a:lstStyle/>
          <a:p>
            <a:endParaRPr lang="en-US" sz="1120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33BE6B4-9479-DBA7-DDE0-AEDECCCFA4BC}"/>
              </a:ext>
            </a:extLst>
          </p:cNvPr>
          <p:cNvSpPr txBox="1"/>
          <p:nvPr/>
        </p:nvSpPr>
        <p:spPr>
          <a:xfrm>
            <a:off x="896350" y="3791865"/>
            <a:ext cx="79492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Git Concepts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523" y="1763911"/>
            <a:ext cx="6716554" cy="4701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565" y="588491"/>
            <a:ext cx="3831788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Going Beyond the Basics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37565" y="3616900"/>
            <a:ext cx="5944870" cy="995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Master sophisticated Git workflows for complex projects and seamless team collaboration.</a:t>
            </a:r>
            <a:endParaRPr lang="en-US" sz="1850" dirty="0"/>
          </a:p>
        </p:txBody>
      </p:sp>
      <p:sp>
        <p:nvSpPr>
          <p:cNvPr id="6" name="Google Shape;688;g36a7fda6971_1_538">
            <a:extLst>
              <a:ext uri="{FF2B5EF4-FFF2-40B4-BE49-F238E27FC236}">
                <a16:creationId xmlns:a16="http://schemas.microsoft.com/office/drawing/2014/main" id="{A9E40861-BC8A-C44D-99F4-E64C345294A1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52337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Quick Recap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5464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Git Fundamentals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445907"/>
            <a:ext cx="6185535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Git is a </a:t>
            </a:r>
            <a:r>
              <a:rPr lang="en-US" sz="1850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distributed version control system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that tracks changes in your codebase. Unlike centralised systems, every developer has a complete copy of the project history.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10363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Repository: Project container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277088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Commit: Snapshot of changes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743813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Branch: Independent line of development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6210538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Merge: Combining changes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285464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Why Go Advanced?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14761" y="3445907"/>
            <a:ext cx="618553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Complex workflows, large teams, and enterprise projects require sophisticated Git strategies beyond basic commands.</a:t>
            </a:r>
            <a:endParaRPr lang="en-US" sz="1850" dirty="0"/>
          </a:p>
        </p:txBody>
      </p:sp>
      <p:sp>
        <p:nvSpPr>
          <p:cNvPr id="11" name="Google Shape;688;g36a7fda6971_1_538">
            <a:extLst>
              <a:ext uri="{FF2B5EF4-FFF2-40B4-BE49-F238E27FC236}">
                <a16:creationId xmlns:a16="http://schemas.microsoft.com/office/drawing/2014/main" id="{A222D04B-2550-622A-37D1-A3EEE52AF499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60026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How Git Stores Data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23016"/>
            <a:ext cx="6357818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9899" y="248519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Blob Objects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9899" y="2980730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Store file contents as compressed binary data. Each file version gets its own blob with unique SHA-1 hash.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2223016"/>
            <a:ext cx="6357818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7033" y="248519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Tree Objects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97033" y="2980730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Directory structure mapping filenames to blobs. Trees can contain other trees, creating hierarchical structure.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248269"/>
            <a:ext cx="6357818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9899" y="451044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Commit Objects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9899" y="5005983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Point to tree objects plus metadata: author, timestamp, parent commits, and commit message.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4248269"/>
            <a:ext cx="6357818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7033" y="451044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Tag Objects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97033" y="5005983"/>
            <a:ext cx="583346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Named references to specific commits, typically used for releases and version markers.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6303407"/>
            <a:ext cx="12954952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References like HEAD, branches, and tags are simply pointers to these objects, creating a </a:t>
            </a:r>
            <a:r>
              <a:rPr lang="en-US" sz="1850" dirty="0">
                <a:solidFill>
                  <a:srgbClr val="018CE1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directed acyclic graph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of project history.</a:t>
            </a:r>
            <a:endParaRPr lang="en-US" sz="1850" dirty="0"/>
          </a:p>
        </p:txBody>
      </p:sp>
      <p:sp>
        <p:nvSpPr>
          <p:cNvPr id="16" name="Google Shape;688;g36a7fda6971_1_538">
            <a:extLst>
              <a:ext uri="{FF2B5EF4-FFF2-40B4-BE49-F238E27FC236}">
                <a16:creationId xmlns:a16="http://schemas.microsoft.com/office/drawing/2014/main" id="{39E2BE34-07CB-419C-2951-FC1014214E06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639" y="576620"/>
            <a:ext cx="4919186" cy="6149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Branching Models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39" y="1609606"/>
            <a:ext cx="1045250" cy="24600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5843" y="1818561"/>
            <a:ext cx="2459593" cy="307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Git Flow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985843" y="2251353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Structured approach with dedicated branches for features, releases, and hotfixes. Ideal for scheduled releases and larger teams.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85843" y="2711172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Feature branches from develop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85843" y="3118723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Release branches for testing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85843" y="3526274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Hotfix branches for urgent fixes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39" y="4069675"/>
            <a:ext cx="1045250" cy="24600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85843" y="4278630"/>
            <a:ext cx="2997875" cy="307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Trunk-Based Development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985843" y="4711422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Small, frequent commits directly to main branch. Supports continuous integration and rapid deployment cycles.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985843" y="5171242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Short-lived feature branches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85843" y="5578792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Feature flags for incomplete work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985843" y="5986343"/>
            <a:ext cx="11912918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Automated testing essential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31639" y="6764893"/>
            <a:ext cx="13167122" cy="888087"/>
          </a:xfrm>
          <a:prstGeom prst="roundRect">
            <a:avLst>
              <a:gd name="adj" fmla="val 35312"/>
            </a:avLst>
          </a:prstGeom>
          <a:solidFill>
            <a:srgbClr val="B7C2FB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94" y="7079337"/>
            <a:ext cx="261223" cy="208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0772" y="7025997"/>
            <a:ext cx="12279035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Choose your strategy based on </a:t>
            </a:r>
            <a:r>
              <a:rPr lang="en-US" sz="1600" dirty="0">
                <a:solidFill>
                  <a:srgbClr val="DA33B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team size</a:t>
            </a:r>
            <a:r>
              <a:rPr lang="en-US" sz="160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, </a:t>
            </a:r>
            <a:r>
              <a:rPr lang="en-US" sz="1600" dirty="0">
                <a:solidFill>
                  <a:srgbClr val="018CE1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release frequency</a:t>
            </a:r>
            <a:r>
              <a:rPr lang="en-US" sz="160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, and </a:t>
            </a:r>
            <a:r>
              <a:rPr lang="en-US" sz="1600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project complexity</a:t>
            </a:r>
            <a:r>
              <a:rPr lang="en-US" sz="160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Google Shape;688;g36a7fda6971_1_538">
            <a:extLst>
              <a:ext uri="{FF2B5EF4-FFF2-40B4-BE49-F238E27FC236}">
                <a16:creationId xmlns:a16="http://schemas.microsoft.com/office/drawing/2014/main" id="{07C5B30E-09DA-BE52-65A7-2BFDC75F6D9B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Rebase vs Merge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980123"/>
            <a:ext cx="1689735" cy="2110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Merge Strategy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2" y="1325761"/>
            <a:ext cx="6750368" cy="2852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862" y="4312325"/>
            <a:ext cx="1408033" cy="17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Preserves History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8862" y="4607957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Creates merge commits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8862" y="4841200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Shows true project timeline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8862" y="5074444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Safe for shared branches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8862" y="5373529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018CE1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Best for:</a:t>
            </a: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Collaborative projects where history matters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68791" y="980123"/>
            <a:ext cx="1689735" cy="2110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Rebase Strategy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870" y="1325880"/>
            <a:ext cx="6750685" cy="4960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68791" y="6421199"/>
            <a:ext cx="1408033" cy="17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Rewrites History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68791" y="6645077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Creates linear commit history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468791" y="6865620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Cleaner project timeline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468791" y="7048063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Easier to follow changes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68791" y="7334448"/>
            <a:ext cx="6750368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Best for:</a:t>
            </a: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Private branches before pushing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98289" y="5890101"/>
            <a:ext cx="1408033" cy="17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⚠️</a:t>
            </a: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Golden Rule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98289" y="6220103"/>
            <a:ext cx="13613249" cy="1914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Never rebase commits that have been pushed to shared repositories. You'll rewrite history others depend on.</a:t>
            </a:r>
            <a:endParaRPr lang="en-US" sz="900" dirty="0"/>
          </a:p>
        </p:txBody>
      </p:sp>
      <p:sp>
        <p:nvSpPr>
          <p:cNvPr id="19" name="Google Shape;688;g36a7fda6971_1_538">
            <a:extLst>
              <a:ext uri="{FF2B5EF4-FFF2-40B4-BE49-F238E27FC236}">
                <a16:creationId xmlns:a16="http://schemas.microsoft.com/office/drawing/2014/main" id="{5486B2BA-A8B2-F610-67BE-9A6B0515A3C6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67495"/>
            <a:ext cx="7128034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Managing Work in Progress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30485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306842"/>
            <a:ext cx="4158734" cy="3048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5" name="Text 3"/>
          <p:cNvSpPr/>
          <p:nvPr/>
        </p:nvSpPr>
        <p:spPr>
          <a:xfrm>
            <a:off x="837724" y="348746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Stash Your Changes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982998"/>
            <a:ext cx="4158734" cy="15397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stash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temporarily saves uncommitted work, allowing you to switch branches without losing progress.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235773" y="2930485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3306842"/>
            <a:ext cx="4158734" cy="30480"/>
          </a:xfrm>
          <a:prstGeom prst="rect">
            <a:avLst/>
          </a:prstGeom>
          <a:solidFill>
            <a:srgbClr val="018CE1"/>
          </a:solidFill>
        </p:spPr>
      </p:sp>
      <p:sp>
        <p:nvSpPr>
          <p:cNvPr id="9" name="Text 7"/>
          <p:cNvSpPr/>
          <p:nvPr/>
        </p:nvSpPr>
        <p:spPr>
          <a:xfrm>
            <a:off x="5235773" y="348746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Switch Contexts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773" y="3982998"/>
            <a:ext cx="4158734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Work on different branches, pull updates, or handle urgent fixes without committing incomplete work.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33823" y="2930485"/>
            <a:ext cx="239316" cy="2992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3306842"/>
            <a:ext cx="4158853" cy="30480"/>
          </a:xfrm>
          <a:prstGeom prst="rect">
            <a:avLst/>
          </a:prstGeom>
          <a:solidFill>
            <a:srgbClr val="DA33BF"/>
          </a:solidFill>
        </p:spPr>
      </p:sp>
      <p:sp>
        <p:nvSpPr>
          <p:cNvPr id="13" name="Text 11"/>
          <p:cNvSpPr/>
          <p:nvPr/>
        </p:nvSpPr>
        <p:spPr>
          <a:xfrm>
            <a:off x="9633823" y="3487460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Restore Your Work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3823" y="3982998"/>
            <a:ext cx="4158853" cy="1164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stash pop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restores changes and removes from stash. Use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stash apply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to keep the stash.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5971342"/>
            <a:ext cx="12954952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Use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clean -f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to remove untracked files. Add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-d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for directories and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-x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for ignored files too.</a:t>
            </a:r>
            <a:endParaRPr lang="en-US" sz="1850" dirty="0"/>
          </a:p>
        </p:txBody>
      </p:sp>
      <p:sp>
        <p:nvSpPr>
          <p:cNvPr id="16" name="Google Shape;688;g36a7fda6971_1_538">
            <a:extLst>
              <a:ext uri="{FF2B5EF4-FFF2-40B4-BE49-F238E27FC236}">
                <a16:creationId xmlns:a16="http://schemas.microsoft.com/office/drawing/2014/main" id="{8DF329EC-CF4A-D08B-095A-BCF3C04AAA7B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985" y="504944"/>
            <a:ext cx="5251133" cy="5394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Applying Specific Changes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41985" y="1502807"/>
            <a:ext cx="2783324" cy="3236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Cherry-Pick Commands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1985" y="2032754"/>
            <a:ext cx="6449497" cy="1155502"/>
          </a:xfrm>
          <a:prstGeom prst="roundRect">
            <a:avLst>
              <a:gd name="adj" fmla="val 23812"/>
            </a:avLst>
          </a:prstGeom>
          <a:solidFill>
            <a:srgbClr val="E6E6F2"/>
          </a:solidFill>
        </p:spPr>
      </p:sp>
      <p:sp>
        <p:nvSpPr>
          <p:cNvPr id="5" name="Shape 3"/>
          <p:cNvSpPr/>
          <p:nvPr/>
        </p:nvSpPr>
        <p:spPr>
          <a:xfrm>
            <a:off x="632817" y="2032754"/>
            <a:ext cx="6467832" cy="1155502"/>
          </a:xfrm>
          <a:prstGeom prst="roundRect">
            <a:avLst>
              <a:gd name="adj" fmla="val 2381"/>
            </a:avLst>
          </a:prstGeom>
          <a:solidFill>
            <a:srgbClr val="E6E6F2"/>
          </a:solidFill>
        </p:spPr>
      </p:sp>
      <p:sp>
        <p:nvSpPr>
          <p:cNvPr id="6" name="Text 4"/>
          <p:cNvSpPr/>
          <p:nvPr/>
        </p:nvSpPr>
        <p:spPr>
          <a:xfrm>
            <a:off x="816173" y="2170271"/>
            <a:ext cx="6101120" cy="8804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cherry-pick &lt;commit-hash&gt;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cherry-pick &lt;start&gt;..&lt;end&gt;</a:t>
            </a:r>
          </a:p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cherry-pick --no-commit &lt;hash&gt;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1985" y="3394591"/>
            <a:ext cx="6449497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Apply commits from one branch to another without merging entire branch history.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340" y="755650"/>
            <a:ext cx="5579745" cy="391604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" y="5084326"/>
            <a:ext cx="458510" cy="4585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985" y="5772031"/>
            <a:ext cx="2158008" cy="2697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Bug Fix Application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1985" y="6151840"/>
            <a:ext cx="6558558" cy="586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Apply critical bug fixes to production branches without merging unfinished features from development.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738" y="5084326"/>
            <a:ext cx="458510" cy="4585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29738" y="5772031"/>
            <a:ext cx="2689265" cy="2697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Selective Feature Migration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429738" y="6151840"/>
            <a:ext cx="6558677" cy="586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Move specific improvements or changes between branches when full merges aren't appropriate.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1985" y="6945154"/>
            <a:ext cx="13346430" cy="779383"/>
          </a:xfrm>
          <a:prstGeom prst="roundRect">
            <a:avLst>
              <a:gd name="adj" fmla="val 35304"/>
            </a:avLst>
          </a:prstGeom>
          <a:solidFill>
            <a:srgbClr val="B7C2FB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41" y="7227213"/>
            <a:ext cx="229195" cy="1833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7893" y="7174349"/>
            <a:ext cx="12567166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DA33B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Best practice:</a:t>
            </a:r>
            <a:r>
              <a:rPr lang="en-US" sz="140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Only cherry-pick small, isolated commits to avoid conflicts and maintain code integrity.</a:t>
            </a:r>
            <a:endParaRPr lang="en-US" sz="1400" dirty="0"/>
          </a:p>
        </p:txBody>
      </p:sp>
      <p:sp>
        <p:nvSpPr>
          <p:cNvPr id="18" name="Google Shape;688;g36a7fda6971_1_538">
            <a:extLst>
              <a:ext uri="{FF2B5EF4-FFF2-40B4-BE49-F238E27FC236}">
                <a16:creationId xmlns:a16="http://schemas.microsoft.com/office/drawing/2014/main" id="{F357E5B6-213B-E41B-5187-D29EB3B8E5D2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1079"/>
            <a:ext cx="8168759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Managing External Repositories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106924" y="2074069"/>
            <a:ext cx="30480" cy="3840004"/>
          </a:xfrm>
          <a:prstGeom prst="roundRect">
            <a:avLst>
              <a:gd name="adj" fmla="val 1178055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345704" y="2328029"/>
            <a:ext cx="718066" cy="30480"/>
          </a:xfrm>
          <a:prstGeom prst="roundRect">
            <a:avLst>
              <a:gd name="adj" fmla="val 1178055"/>
            </a:avLst>
          </a:prstGeom>
          <a:solidFill>
            <a:srgbClr val="2D4DF2"/>
          </a:solidFill>
        </p:spPr>
      </p:sp>
      <p:sp>
        <p:nvSpPr>
          <p:cNvPr id="5" name="Shape 3"/>
          <p:cNvSpPr/>
          <p:nvPr/>
        </p:nvSpPr>
        <p:spPr>
          <a:xfrm>
            <a:off x="837664" y="2074069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7915" y="2132052"/>
            <a:ext cx="337899" cy="422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303859" y="2156341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Multiple Remotes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03859" y="2651879"/>
            <a:ext cx="1148881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Configure origin (your fork) and upstream (original repo) to stay synchronised with project updates.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1345704" y="3767614"/>
            <a:ext cx="718066" cy="30480"/>
          </a:xfrm>
          <a:prstGeom prst="roundRect">
            <a:avLst>
              <a:gd name="adj" fmla="val 1178055"/>
            </a:avLst>
          </a:prstGeom>
          <a:solidFill>
            <a:srgbClr val="018CE1"/>
          </a:solidFill>
        </p:spPr>
      </p:sp>
      <p:sp>
        <p:nvSpPr>
          <p:cNvPr id="10" name="Shape 8"/>
          <p:cNvSpPr/>
          <p:nvPr/>
        </p:nvSpPr>
        <p:spPr>
          <a:xfrm>
            <a:off x="837664" y="351365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915" y="3571637"/>
            <a:ext cx="337899" cy="422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303859" y="359592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Fetching Updates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03859" y="4091464"/>
            <a:ext cx="1148881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Regularly fetch from upstream repositories to incorporate latest changes without automatic merging.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345704" y="5207198"/>
            <a:ext cx="718066" cy="30480"/>
          </a:xfrm>
          <a:prstGeom prst="roundRect">
            <a:avLst>
              <a:gd name="adj" fmla="val 1178055"/>
            </a:avLst>
          </a:prstGeom>
          <a:solidFill>
            <a:srgbClr val="DA33BF"/>
          </a:solidFill>
        </p:spPr>
      </p:sp>
      <p:sp>
        <p:nvSpPr>
          <p:cNvPr id="15" name="Shape 13"/>
          <p:cNvSpPr/>
          <p:nvPr/>
        </p:nvSpPr>
        <p:spPr>
          <a:xfrm>
            <a:off x="837664" y="4953238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915" y="5011222"/>
            <a:ext cx="337899" cy="4224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2303859" y="5035510"/>
            <a:ext cx="2947868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Submodule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03859" y="5531048"/>
            <a:ext cx="1148881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Include external Git repositories as subdirectories, perfect for shared libraries and dependencies.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37724" y="6183273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Submodules maintain their own Git history whilst being referenced by the parent project at specific commit versions.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37724" y="6835497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Example use case: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A web application project including a shared UI component library as a submodule.</a:t>
            </a:r>
            <a:endParaRPr lang="en-US" sz="1850" dirty="0"/>
          </a:p>
        </p:txBody>
      </p:sp>
      <p:sp>
        <p:nvSpPr>
          <p:cNvPr id="21" name="Google Shape;688;g36a7fda6971_1_538">
            <a:extLst>
              <a:ext uri="{FF2B5EF4-FFF2-40B4-BE49-F238E27FC236}">
                <a16:creationId xmlns:a16="http://schemas.microsoft.com/office/drawing/2014/main" id="{A1AD4567-8C1C-38AB-5F9E-1842A10B0D73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1115"/>
            <a:ext cx="7027188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Automating with Git Hooks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603421"/>
            <a:ext cx="3379470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Client-Side Hooks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3265051"/>
            <a:ext cx="4831556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pre-commit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: Run before commit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739396"/>
            <a:ext cx="4831556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pre-push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: Run before push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213741"/>
            <a:ext cx="4831556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commit-msg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: Validate messages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843701"/>
            <a:ext cx="3379470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Server-Side Hooks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37724" y="5505331"/>
            <a:ext cx="4831556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pre-receive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: Before accepting push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979676"/>
            <a:ext cx="4831556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: Per-branch validation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454021"/>
            <a:ext cx="4831556" cy="3906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post-receive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: After successful push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260783" y="2760405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2D4DF2"/>
          </a:solidFill>
        </p:spPr>
      </p:sp>
      <p:sp>
        <p:nvSpPr>
          <p:cNvPr id="12" name="Text 10"/>
          <p:cNvSpPr/>
          <p:nvPr/>
        </p:nvSpPr>
        <p:spPr>
          <a:xfrm>
            <a:off x="6619756" y="263330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Enforce Standards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19756" y="3224570"/>
            <a:ext cx="3261122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Validate commit message format and coding standards before allowing commits.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0180082" y="2760405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018CE1"/>
          </a:solidFill>
        </p:spPr>
      </p:sp>
      <p:sp>
        <p:nvSpPr>
          <p:cNvPr id="15" name="Text 13"/>
          <p:cNvSpPr/>
          <p:nvPr/>
        </p:nvSpPr>
        <p:spPr>
          <a:xfrm>
            <a:off x="10539055" y="263330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Quality Gates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39055" y="3224570"/>
            <a:ext cx="3261122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Run automated tests and security scans before pushing to shared repositories.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260783" y="4979491"/>
            <a:ext cx="119658" cy="119658"/>
          </a:xfrm>
          <a:prstGeom prst="roundRect">
            <a:avLst>
              <a:gd name="adj" fmla="val 382089"/>
            </a:avLst>
          </a:prstGeom>
          <a:solidFill>
            <a:srgbClr val="DA33BF"/>
          </a:solidFill>
        </p:spPr>
      </p:sp>
      <p:sp>
        <p:nvSpPr>
          <p:cNvPr id="18" name="Text 16"/>
          <p:cNvSpPr/>
          <p:nvPr/>
        </p:nvSpPr>
        <p:spPr>
          <a:xfrm>
            <a:off x="6619756" y="485239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CI/CD Integration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19756" y="5443657"/>
            <a:ext cx="7180421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Trigger deployment pipelines and notification systems after successful commits.</a:t>
            </a:r>
            <a:endParaRPr lang="en-US" sz="1850" dirty="0"/>
          </a:p>
        </p:txBody>
      </p:sp>
      <p:sp>
        <p:nvSpPr>
          <p:cNvPr id="20" name="Google Shape;688;g36a7fda6971_1_538">
            <a:extLst>
              <a:ext uri="{FF2B5EF4-FFF2-40B4-BE49-F238E27FC236}">
                <a16:creationId xmlns:a16="http://schemas.microsoft.com/office/drawing/2014/main" id="{D5063DA0-E046-6D2F-665A-A78A8C8D1DD8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400" y="570667"/>
            <a:ext cx="6071235" cy="6104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Tips for Effective Git Usage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26400" y="1492329"/>
            <a:ext cx="13177599" cy="1245275"/>
          </a:xfrm>
          <a:prstGeom prst="roundRect">
            <a:avLst>
              <a:gd name="adj" fmla="val 25000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260" y="1515189"/>
            <a:ext cx="830104" cy="1199555"/>
          </a:xfrm>
          <a:prstGeom prst="roundRect">
            <a:avLst>
              <a:gd name="adj" fmla="val 34200"/>
            </a:avLst>
          </a:prstGeom>
          <a:solidFill>
            <a:srgbClr val="F3F3FF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68" y="1920359"/>
            <a:ext cx="311229" cy="389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6890" y="1722715"/>
            <a:ext cx="2688788" cy="305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Clear Commit Messages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6890" y="2152293"/>
            <a:ext cx="12094250" cy="331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Write descriptive messages following conventional formats. Include what changed and why it matters.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6400" y="2945130"/>
            <a:ext cx="13177599" cy="1245275"/>
          </a:xfrm>
          <a:prstGeom prst="roundRect">
            <a:avLst>
              <a:gd name="adj" fmla="val 25000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260" y="2967990"/>
            <a:ext cx="830104" cy="1199555"/>
          </a:xfrm>
          <a:prstGeom prst="roundRect">
            <a:avLst>
              <a:gd name="adj" fmla="val 34200"/>
            </a:avLst>
          </a:prstGeom>
          <a:solidFill>
            <a:srgbClr val="F3F3F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268" y="3373160"/>
            <a:ext cx="311229" cy="3890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6890" y="3175516"/>
            <a:ext cx="2441734" cy="305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Atomic Commits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786890" y="3605093"/>
            <a:ext cx="12094250" cy="331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Keep commits small and focused on single changes. Makes debugging and reviewing much easier.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26400" y="4397931"/>
            <a:ext cx="13177599" cy="1245275"/>
          </a:xfrm>
          <a:prstGeom prst="roundRect">
            <a:avLst>
              <a:gd name="adj" fmla="val 25000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9260" y="4420791"/>
            <a:ext cx="830104" cy="1199555"/>
          </a:xfrm>
          <a:prstGeom prst="roundRect">
            <a:avLst>
              <a:gd name="adj" fmla="val 34200"/>
            </a:avLst>
          </a:prstGeom>
          <a:solidFill>
            <a:srgbClr val="F3F3F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68" y="4825960"/>
            <a:ext cx="311229" cy="3890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6890" y="4628317"/>
            <a:ext cx="2441734" cy="305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Security Awareness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786890" y="5057894"/>
            <a:ext cx="12094250" cy="331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Never commit secrets, API keys, or large binary files. Use .gitignore and environment variables.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26400" y="5850731"/>
            <a:ext cx="13177599" cy="1245275"/>
          </a:xfrm>
          <a:prstGeom prst="roundRect">
            <a:avLst>
              <a:gd name="adj" fmla="val 25000"/>
            </a:avLst>
          </a:prstGeom>
          <a:solidFill>
            <a:srgbClr val="F3F3FF">
              <a:alpha val="75000"/>
            </a:srgbClr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260" y="5873591"/>
            <a:ext cx="830104" cy="1199555"/>
          </a:xfrm>
          <a:prstGeom prst="roundRect">
            <a:avLst>
              <a:gd name="adj" fmla="val 34200"/>
            </a:avLst>
          </a:prstGeom>
          <a:solidFill>
            <a:srgbClr val="F3F3FF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268" y="6278761"/>
            <a:ext cx="311229" cy="3890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6890" y="6081117"/>
            <a:ext cx="2441734" cy="3051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 Tools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1786890" y="6510695"/>
            <a:ext cx="12094250" cy="3395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Use </a:t>
            </a:r>
            <a:r>
              <a:rPr lang="en-US" sz="16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log --oneline --graph --decorate</a:t>
            </a: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for terminal visualization or GUI tools like GitKraken.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6400" y="7329488"/>
            <a:ext cx="13177599" cy="331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Master these advanced concepts and you'll handle complex Git workflows with confidence and precision.</a:t>
            </a:r>
            <a:endParaRPr lang="en-US" sz="1600" dirty="0"/>
          </a:p>
        </p:txBody>
      </p:sp>
      <p:sp>
        <p:nvSpPr>
          <p:cNvPr id="24" name="Google Shape;688;g36a7fda6971_1_538">
            <a:extLst>
              <a:ext uri="{FF2B5EF4-FFF2-40B4-BE49-F238E27FC236}">
                <a16:creationId xmlns:a16="http://schemas.microsoft.com/office/drawing/2014/main" id="{589FEB24-370B-1686-A1A3-B590C9829239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620" y="-2963412"/>
            <a:ext cx="7539088" cy="14156423"/>
            <a:chOff x="0" y="0"/>
            <a:chExt cx="12565145" cy="23594038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8E8E8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839226" y="2964900"/>
            <a:ext cx="9173455" cy="2274007"/>
            <a:chOff x="0" y="0"/>
            <a:chExt cx="15289092" cy="37900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89092" cy="3790012"/>
            </a:xfrm>
            <a:custGeom>
              <a:avLst/>
              <a:gdLst/>
              <a:ahLst/>
              <a:cxnLst/>
              <a:rect l="l" t="t" r="r" b="b"/>
              <a:pathLst>
                <a:path w="15289092" h="3790012">
                  <a:moveTo>
                    <a:pt x="0" y="0"/>
                  </a:moveTo>
                  <a:lnTo>
                    <a:pt x="15289092" y="0"/>
                  </a:lnTo>
                  <a:lnTo>
                    <a:pt x="15289092" y="3790012"/>
                  </a:lnTo>
                  <a:lnTo>
                    <a:pt x="0" y="3790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00025"/>
              <a:ext cx="15289092" cy="35899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00"/>
                </a:lnSpc>
              </a:pPr>
              <a:r>
                <a:rPr lang="en-US" sz="8400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 You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7531" y="6825637"/>
            <a:ext cx="7550612" cy="877147"/>
            <a:chOff x="0" y="0"/>
            <a:chExt cx="15289092" cy="17761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89092" cy="1776119"/>
            </a:xfrm>
            <a:custGeom>
              <a:avLst/>
              <a:gdLst/>
              <a:ahLst/>
              <a:cxnLst/>
              <a:rect l="l" t="t" r="r" b="b"/>
              <a:pathLst>
                <a:path w="15289092" h="1776119">
                  <a:moveTo>
                    <a:pt x="0" y="0"/>
                  </a:moveTo>
                  <a:lnTo>
                    <a:pt x="15289092" y="0"/>
                  </a:lnTo>
                  <a:lnTo>
                    <a:pt x="15289092" y="1776119"/>
                  </a:lnTo>
                  <a:lnTo>
                    <a:pt x="0" y="1776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15289092" cy="1699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199"/>
                </a:lnSpc>
              </a:pP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Wait Nahi, </a:t>
              </a:r>
              <a:r>
                <a:rPr lang="en-US" sz="3199" b="1" i="1">
                  <a:solidFill>
                    <a:srgbClr val="FF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Great</a:t>
              </a: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Kar!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5" y="5007415"/>
            <a:ext cx="3382255" cy="462984"/>
            <a:chOff x="0" y="0"/>
            <a:chExt cx="5637092" cy="771640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5552" y="5033579"/>
            <a:ext cx="3300450" cy="443765"/>
            <a:chOff x="-32787" y="0"/>
            <a:chExt cx="5500751" cy="739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242424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32787" y="93279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242424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5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6" name="Group 36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D6A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9" name="Group 39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2" name="Group 42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5" name="Group 45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54" name="Freeform 54"/>
          <p:cNvSpPr/>
          <p:nvPr/>
        </p:nvSpPr>
        <p:spPr>
          <a:xfrm>
            <a:off x="867530" y="822960"/>
            <a:ext cx="3478472" cy="748517"/>
          </a:xfrm>
          <a:custGeom>
            <a:avLst/>
            <a:gdLst/>
            <a:ahLst/>
            <a:cxnLst/>
            <a:rect l="l" t="t" r="r" b="b"/>
            <a:pathLst>
              <a:path w="4348090" h="935646">
                <a:moveTo>
                  <a:pt x="0" y="0"/>
                </a:moveTo>
                <a:lnTo>
                  <a:pt x="4348090" y="0"/>
                </a:lnTo>
                <a:lnTo>
                  <a:pt x="4348090" y="935646"/>
                </a:lnTo>
                <a:lnTo>
                  <a:pt x="0" y="935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61" t="-51913" r="-8261" b="-51913"/>
            </a:stretch>
          </a:blipFill>
        </p:spPr>
        <p:txBody>
          <a:bodyPr/>
          <a:lstStyle/>
          <a:p>
            <a:endParaRPr lang="en-US" sz="112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822</Words>
  <Application>Microsoft Office PowerPoint</Application>
  <PresentationFormat>Custom</PresentationFormat>
  <Paragraphs>122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Consolas</vt:lpstr>
      <vt:lpstr>Open Sans Bold Italics</vt:lpstr>
      <vt:lpstr>Nunito Semi Bold</vt:lpstr>
      <vt:lpstr>Calibri</vt:lpstr>
      <vt:lpstr>Open Sans Bold</vt:lpstr>
      <vt:lpstr>Arial</vt:lpstr>
      <vt:lpstr>PT Sans</vt:lpstr>
      <vt:lpstr>Open Sans</vt:lpstr>
      <vt:lpstr>Nunito Light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Kondeti</dc:creator>
  <cp:lastModifiedBy>Venkat Kondeti</cp:lastModifiedBy>
  <cp:revision>4</cp:revision>
  <dcterms:created xsi:type="dcterms:W3CDTF">2025-09-26T10:47:00Z</dcterms:created>
  <dcterms:modified xsi:type="dcterms:W3CDTF">2025-09-29T06:18:30Z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7FB0FCE46AC74BE5BB0F048B6DA6C77B_12</vt:lpwstr>
  </property>
  <property fmtid="{D5CDD505-2E9C-101B-9397-08002B2CF9AE}" pid="3" name="KSOProductBuildVer">
    <vt:lpwstr>2057-12.2.0.22549</vt:lpwstr>
  </property>
</Properties>
</file>